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90" r:id="rId1"/>
  </p:sldMasterIdLst>
  <p:sldIdLst>
    <p:sldId id="256" r:id="rId2"/>
    <p:sldId id="257" r:id="rId3"/>
    <p:sldId id="272" r:id="rId4"/>
    <p:sldId id="273" r:id="rId5"/>
    <p:sldId id="274" r:id="rId6"/>
    <p:sldId id="258" r:id="rId7"/>
    <p:sldId id="267" r:id="rId8"/>
    <p:sldId id="259" r:id="rId9"/>
    <p:sldId id="275" r:id="rId10"/>
    <p:sldId id="260" r:id="rId11"/>
    <p:sldId id="269" r:id="rId12"/>
    <p:sldId id="268" r:id="rId13"/>
    <p:sldId id="261" r:id="rId14"/>
    <p:sldId id="277" r:id="rId15"/>
    <p:sldId id="270" r:id="rId16"/>
    <p:sldId id="262" r:id="rId17"/>
    <p:sldId id="271" r:id="rId18"/>
    <p:sldId id="263" r:id="rId19"/>
    <p:sldId id="278" r:id="rId20"/>
    <p:sldId id="26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70C12960-6E85-460F-B6E3-5B82CB31AF3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68302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6127570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45968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7DA38F49-B3E2-4BF0-BEC7-C30D34ABBB8D}" type="datetime1">
              <a:rPr lang="en-US" smtClean="0"/>
              <a:t>1/17/2026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209927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7DA38F49-B3E2-4BF0-BEC7-C30D34ABBB8D}" type="datetime1">
              <a:rPr lang="en-US" smtClean="0"/>
              <a:t>1/17/2026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25691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7DA38F49-B3E2-4BF0-BEC7-C30D34ABBB8D}" type="datetime1">
              <a:rPr lang="en-US" smtClean="0"/>
              <a:t>1/17/2026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569971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38F49-B3E2-4BF0-BEC7-C30D34ABBB8D}" type="datetime1">
              <a:rPr lang="en-US" smtClean="0"/>
              <a:t>1/17/2026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4969007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7DA38F49-B3E2-4BF0-BEC7-C30D34ABBB8D}" type="datetime1">
              <a:rPr lang="en-US" smtClean="0"/>
              <a:t>1/17/2026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17320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he-IL"/>
              <a:t>לחץ כדי לערוך סגנון כותרת של תבנית בסיס</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7DA38F49-B3E2-4BF0-BEC7-C30D34ABBB8D}" type="datetime1">
              <a:rPr lang="en-US" smtClean="0"/>
              <a:t>1/17/2026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8315327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7DA38F49-B3E2-4BF0-BEC7-C30D34ABBB8D}" type="datetime1">
              <a:rPr lang="en-US" smtClean="0"/>
              <a:t>1/17/2026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750328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58457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90966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3864256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689516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he-IL"/>
              <a:t>לחץ כדי לערוך סגנון כותרת של תבנית בסיס</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504352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490098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1/17/2026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603402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A38F49-B3E2-4BF0-BEC7-C30D34ABBB8D}" type="datetime1">
              <a:rPr lang="en-US" smtClean="0"/>
              <a:t>1/17/2026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329900160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sldNum="0" hdr="0" ftr="0" dt="0"/>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noye1234/Deep_Learni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44C0F5-4731-3E3D-9ABC-93419BEBFEA5}"/>
              </a:ext>
            </a:extLst>
          </p:cNvPr>
          <p:cNvSpPr>
            <a:spLocks noGrp="1"/>
          </p:cNvSpPr>
          <p:nvPr>
            <p:ph type="ctrTitle"/>
          </p:nvPr>
        </p:nvSpPr>
        <p:spPr/>
        <p:txBody>
          <a:bodyPr/>
          <a:lstStyle/>
          <a:p>
            <a:r>
              <a:rPr lang="en-US" sz="4000" b="1" dirty="0"/>
              <a:t>Image Classification of Coffee Types using Deep Learning</a:t>
            </a:r>
            <a:endParaRPr lang="he-IL" sz="4000" b="1" dirty="0"/>
          </a:p>
        </p:txBody>
      </p:sp>
      <p:sp>
        <p:nvSpPr>
          <p:cNvPr id="3" name="כותרת משנה 2">
            <a:extLst>
              <a:ext uri="{FF2B5EF4-FFF2-40B4-BE49-F238E27FC236}">
                <a16:creationId xmlns:a16="http://schemas.microsoft.com/office/drawing/2014/main" id="{CF114C07-E7F3-A83F-D5A0-6E04896462D7}"/>
              </a:ext>
            </a:extLst>
          </p:cNvPr>
          <p:cNvSpPr>
            <a:spLocks noGrp="1"/>
          </p:cNvSpPr>
          <p:nvPr>
            <p:ph type="subTitle" idx="1"/>
          </p:nvPr>
        </p:nvSpPr>
        <p:spPr/>
        <p:txBody>
          <a:bodyPr>
            <a:normAutofit lnSpcReduction="10000"/>
          </a:bodyPr>
          <a:lstStyle/>
          <a:p>
            <a:pPr rtl="0"/>
            <a:r>
              <a:rPr lang="en-US" dirty="0"/>
              <a:t>Name: Noy Elisha</a:t>
            </a:r>
            <a:endParaRPr lang="he-IL" dirty="0"/>
          </a:p>
          <a:p>
            <a:pPr rtl="0"/>
            <a:r>
              <a:rPr lang="en-US" b="1" dirty="0"/>
              <a:t>GitHub Repository:</a:t>
            </a:r>
          </a:p>
          <a:p>
            <a:pPr rtl="0"/>
            <a:r>
              <a:rPr lang="en-US" b="1" dirty="0">
                <a:hlinkClick r:id="rId2"/>
              </a:rPr>
              <a:t>https://github.com/noye1234/Deep_Learning</a:t>
            </a:r>
            <a:endParaRPr lang="he-IL" dirty="0"/>
          </a:p>
        </p:txBody>
      </p:sp>
    </p:spTree>
    <p:extLst>
      <p:ext uri="{BB962C8B-B14F-4D97-AF65-F5344CB8AC3E}">
        <p14:creationId xmlns:p14="http://schemas.microsoft.com/office/powerpoint/2010/main" val="252851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0A59E47-B27C-FB33-6801-D74A6744AF19}"/>
              </a:ext>
            </a:extLst>
          </p:cNvPr>
          <p:cNvSpPr>
            <a:spLocks noGrp="1"/>
          </p:cNvSpPr>
          <p:nvPr>
            <p:ph type="title"/>
          </p:nvPr>
        </p:nvSpPr>
        <p:spPr/>
        <p:txBody>
          <a:bodyPr>
            <a:normAutofit/>
          </a:bodyPr>
          <a:lstStyle/>
          <a:p>
            <a:r>
              <a:rPr lang="en-US" dirty="0"/>
              <a:t>Problem &amp; Dataset</a:t>
            </a:r>
            <a:endParaRPr lang="he-IL" dirty="0"/>
          </a:p>
        </p:txBody>
      </p:sp>
      <p:sp>
        <p:nvSpPr>
          <p:cNvPr id="3" name="מציין מיקום תוכן 2">
            <a:extLst>
              <a:ext uri="{FF2B5EF4-FFF2-40B4-BE49-F238E27FC236}">
                <a16:creationId xmlns:a16="http://schemas.microsoft.com/office/drawing/2014/main" id="{CEA04E18-A310-D81C-3F98-43EF6072EA19}"/>
              </a:ext>
            </a:extLst>
          </p:cNvPr>
          <p:cNvSpPr>
            <a:spLocks noGrp="1"/>
          </p:cNvSpPr>
          <p:nvPr>
            <p:ph idx="1"/>
          </p:nvPr>
        </p:nvSpPr>
        <p:spPr>
          <a:xfrm>
            <a:off x="1295400" y="2518611"/>
            <a:ext cx="9918031" cy="3545305"/>
          </a:xfrm>
        </p:spPr>
        <p:txBody>
          <a:bodyPr>
            <a:normAutofit lnSpcReduction="10000"/>
          </a:bodyPr>
          <a:lstStyle/>
          <a:p>
            <a:pPr algn="l" rtl="0"/>
            <a:r>
              <a:rPr lang="en-US" b="1" dirty="0"/>
              <a:t>The Task:</a:t>
            </a:r>
            <a:r>
              <a:rPr lang="en-US" dirty="0"/>
              <a:t> Classifying images into 4 categories of coffee: Cappuccino, Espresso, Americano, Latte</a:t>
            </a:r>
          </a:p>
          <a:p>
            <a:pPr algn="l" rtl="0"/>
            <a:r>
              <a:rPr lang="en-US" b="1" dirty="0"/>
              <a:t>The Data:</a:t>
            </a:r>
            <a:r>
              <a:rPr lang="en-US" dirty="0"/>
              <a:t> ~150 custom curated images.</a:t>
            </a:r>
          </a:p>
          <a:p>
            <a:pPr algn="l" rtl="0"/>
            <a:r>
              <a:rPr lang="en-US" b="1" dirty="0"/>
              <a:t>Key Challenges:</a:t>
            </a:r>
            <a:endParaRPr lang="en-US" dirty="0"/>
          </a:p>
          <a:p>
            <a:pPr algn="l" rtl="0"/>
            <a:r>
              <a:rPr lang="en-US" b="1" dirty="0"/>
              <a:t>Fine grained classification:</a:t>
            </a:r>
            <a:r>
              <a:rPr lang="en-US" dirty="0"/>
              <a:t> Classes share similar color palettes (brown, white, beige).</a:t>
            </a:r>
          </a:p>
          <a:p>
            <a:pPr algn="l" rtl="0"/>
            <a:r>
              <a:rPr lang="en-US" b="1" dirty="0"/>
              <a:t>Domain Specificity:</a:t>
            </a:r>
            <a:r>
              <a:rPr lang="en-US" dirty="0"/>
              <a:t> Textures of foam and liquid are the primary distinguishing features.</a:t>
            </a:r>
          </a:p>
          <a:p>
            <a:pPr algn="l" rtl="0"/>
            <a:endParaRPr lang="he-IL" dirty="0"/>
          </a:p>
        </p:txBody>
      </p:sp>
    </p:spTree>
    <p:extLst>
      <p:ext uri="{BB962C8B-B14F-4D97-AF65-F5344CB8AC3E}">
        <p14:creationId xmlns:p14="http://schemas.microsoft.com/office/powerpoint/2010/main" val="229873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17B25A2-0CAD-BF9B-9DAA-0B212ECDEE68}"/>
              </a:ext>
            </a:extLst>
          </p:cNvPr>
          <p:cNvSpPr>
            <a:spLocks noGrp="1"/>
          </p:cNvSpPr>
          <p:nvPr>
            <p:ph type="title"/>
          </p:nvPr>
        </p:nvSpPr>
        <p:spPr>
          <a:xfrm>
            <a:off x="403123" y="560440"/>
            <a:ext cx="11788877" cy="1996492"/>
          </a:xfrm>
        </p:spPr>
        <p:txBody>
          <a:bodyPr>
            <a:normAutofit/>
          </a:bodyPr>
          <a:lstStyle/>
          <a:p>
            <a:r>
              <a:rPr lang="en-US" sz="3600" dirty="0"/>
              <a:t>Coffee Classification: </a:t>
            </a:r>
            <a:br>
              <a:rPr lang="en-US" sz="3600" dirty="0"/>
            </a:br>
            <a:r>
              <a:rPr lang="en-US" sz="3600" dirty="0"/>
              <a:t>Differentiating between visually similar coffee beverages</a:t>
            </a:r>
            <a:endParaRPr lang="he-IL" sz="3600" dirty="0"/>
          </a:p>
        </p:txBody>
      </p:sp>
      <p:sp>
        <p:nvSpPr>
          <p:cNvPr id="3" name="מציין מיקום תוכן 2">
            <a:extLst>
              <a:ext uri="{FF2B5EF4-FFF2-40B4-BE49-F238E27FC236}">
                <a16:creationId xmlns:a16="http://schemas.microsoft.com/office/drawing/2014/main" id="{EEC1BAB3-2B7A-2978-9ABF-33BB60B201D7}"/>
              </a:ext>
            </a:extLst>
          </p:cNvPr>
          <p:cNvSpPr>
            <a:spLocks noGrp="1"/>
          </p:cNvSpPr>
          <p:nvPr>
            <p:ph idx="1"/>
          </p:nvPr>
        </p:nvSpPr>
        <p:spPr/>
        <p:txBody>
          <a:bodyPr/>
          <a:lstStyle/>
          <a:p>
            <a:pPr marL="0" indent="0" algn="l" rtl="0">
              <a:buNone/>
            </a:pPr>
            <a:r>
              <a:rPr lang="en-US" dirty="0"/>
              <a:t>The Challenge: Fine-Grained Classification:</a:t>
            </a:r>
          </a:p>
          <a:p>
            <a:pPr lvl="1" algn="l" rtl="0"/>
            <a:r>
              <a:rPr lang="en-US" b="1" dirty="0"/>
              <a:t>Visually Distinct:</a:t>
            </a:r>
            <a:r>
              <a:rPr lang="en-US" dirty="0"/>
              <a:t> Americano and Espresso are "black" coffees (different volumes/crema), while Cappuccino and Latte introduces milk foam textures.</a:t>
            </a:r>
          </a:p>
          <a:p>
            <a:pPr marL="457200" lvl="1" indent="0" algn="l" rtl="0">
              <a:buNone/>
            </a:pPr>
            <a:endParaRPr lang="en-US" dirty="0"/>
          </a:p>
          <a:p>
            <a:pPr lvl="1" algn="l" rtl="0"/>
            <a:r>
              <a:rPr lang="en-US" b="1" dirty="0"/>
              <a:t>The Difficulty:</a:t>
            </a:r>
            <a:r>
              <a:rPr lang="en-US" dirty="0"/>
              <a:t> Distinguishing between these requires the model to learn subtle features like liquid-to-foam ratios, cup sizes, and surface textures.</a:t>
            </a:r>
          </a:p>
          <a:p>
            <a:pPr lvl="1" algn="l" rtl="0"/>
            <a:endParaRPr lang="en-US" dirty="0"/>
          </a:p>
        </p:txBody>
      </p:sp>
    </p:spTree>
    <p:extLst>
      <p:ext uri="{BB962C8B-B14F-4D97-AF65-F5344CB8AC3E}">
        <p14:creationId xmlns:p14="http://schemas.microsoft.com/office/powerpoint/2010/main" val="3247338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BA79E4-3EFF-C262-6A17-95BD3ED8F3C8}"/>
              </a:ext>
            </a:extLst>
          </p:cNvPr>
          <p:cNvSpPr>
            <a:spLocks noGrp="1"/>
          </p:cNvSpPr>
          <p:nvPr>
            <p:ph type="title"/>
          </p:nvPr>
        </p:nvSpPr>
        <p:spPr/>
        <p:txBody>
          <a:bodyPr>
            <a:normAutofit fontScale="90000"/>
          </a:bodyPr>
          <a:lstStyle/>
          <a:p>
            <a:r>
              <a:rPr lang="en-US" b="1" dirty="0"/>
              <a:t>Challenge : The Lack of Official Datasets</a:t>
            </a:r>
          </a:p>
        </p:txBody>
      </p:sp>
      <p:sp>
        <p:nvSpPr>
          <p:cNvPr id="3" name="מציין מיקום תוכן 2">
            <a:extLst>
              <a:ext uri="{FF2B5EF4-FFF2-40B4-BE49-F238E27FC236}">
                <a16:creationId xmlns:a16="http://schemas.microsoft.com/office/drawing/2014/main" id="{99B54176-573E-3C3F-648F-375754079ACF}"/>
              </a:ext>
            </a:extLst>
          </p:cNvPr>
          <p:cNvSpPr>
            <a:spLocks noGrp="1"/>
          </p:cNvSpPr>
          <p:nvPr>
            <p:ph idx="1"/>
          </p:nvPr>
        </p:nvSpPr>
        <p:spPr/>
        <p:txBody>
          <a:bodyPr>
            <a:normAutofit fontScale="92500"/>
          </a:bodyPr>
          <a:lstStyle/>
          <a:p>
            <a:pPr algn="l" rtl="0"/>
            <a:r>
              <a:rPr lang="en-US" b="1" dirty="0"/>
              <a:t>The Problem:</a:t>
            </a:r>
            <a:r>
              <a:rPr lang="en-US" dirty="0"/>
              <a:t> Unlike common tasks (like cats vs. dogs), there is no "official" or standard dataset for specific coffee types like Americano or Espresso.</a:t>
            </a:r>
          </a:p>
          <a:p>
            <a:pPr algn="l" rtl="0"/>
            <a:r>
              <a:rPr lang="en-US" b="1" dirty="0"/>
              <a:t>Manual Sourcing:</a:t>
            </a:r>
            <a:r>
              <a:rPr lang="en-US" dirty="0"/>
              <a:t> I had to manually source and download every image. This meant searching through various image engines and social media, ensuring the photos represented "real world" coffee serving scenarios.</a:t>
            </a:r>
          </a:p>
          <a:p>
            <a:pPr algn="l" rtl="0"/>
            <a:r>
              <a:rPr lang="en-US" b="1" dirty="0"/>
              <a:t>Quality Control:</a:t>
            </a:r>
            <a:r>
              <a:rPr lang="en-US" dirty="0"/>
              <a:t> Manual collection introduced significant noise. Many images were low resolution, featured cluttered backgrounds, or didn't clearly show the coffee's surface (which is essential for classification).</a:t>
            </a:r>
          </a:p>
          <a:p>
            <a:pPr algn="l" rtl="0"/>
            <a:endParaRPr lang="he-IL" dirty="0"/>
          </a:p>
        </p:txBody>
      </p:sp>
    </p:spTree>
    <p:extLst>
      <p:ext uri="{BB962C8B-B14F-4D97-AF65-F5344CB8AC3E}">
        <p14:creationId xmlns:p14="http://schemas.microsoft.com/office/powerpoint/2010/main" val="378529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CF2EC1-CFB7-4049-04C6-0AFF3F6F8A8A}"/>
              </a:ext>
            </a:extLst>
          </p:cNvPr>
          <p:cNvSpPr>
            <a:spLocks noGrp="1"/>
          </p:cNvSpPr>
          <p:nvPr>
            <p:ph type="title"/>
          </p:nvPr>
        </p:nvSpPr>
        <p:spPr>
          <a:xfrm>
            <a:off x="800100" y="835742"/>
            <a:ext cx="10591798" cy="1479754"/>
          </a:xfrm>
        </p:spPr>
        <p:txBody>
          <a:bodyPr>
            <a:normAutofit/>
          </a:bodyPr>
          <a:lstStyle/>
          <a:p>
            <a:r>
              <a:rPr lang="en-US" b="1" dirty="0"/>
              <a:t>Increasing the Difficulty: </a:t>
            </a:r>
            <a:br>
              <a:rPr lang="en-US" b="1" dirty="0"/>
            </a:br>
            <a:r>
              <a:rPr lang="en-US" b="1" dirty="0"/>
              <a:t>The "Latte" Pivot</a:t>
            </a:r>
            <a:endParaRPr lang="he-IL" dirty="0"/>
          </a:p>
        </p:txBody>
      </p:sp>
      <p:sp>
        <p:nvSpPr>
          <p:cNvPr id="3" name="מציין מיקום תוכן 2">
            <a:extLst>
              <a:ext uri="{FF2B5EF4-FFF2-40B4-BE49-F238E27FC236}">
                <a16:creationId xmlns:a16="http://schemas.microsoft.com/office/drawing/2014/main" id="{845A70CB-6CA9-4073-5E2C-6E76064549A5}"/>
              </a:ext>
            </a:extLst>
          </p:cNvPr>
          <p:cNvSpPr>
            <a:spLocks noGrp="1"/>
          </p:cNvSpPr>
          <p:nvPr>
            <p:ph idx="1"/>
          </p:nvPr>
        </p:nvSpPr>
        <p:spPr>
          <a:xfrm>
            <a:off x="1091381" y="2556932"/>
            <a:ext cx="10146890" cy="3686552"/>
          </a:xfrm>
        </p:spPr>
        <p:txBody>
          <a:bodyPr>
            <a:normAutofit fontScale="92500" lnSpcReduction="10000"/>
          </a:bodyPr>
          <a:lstStyle/>
          <a:p>
            <a:pPr algn="l" rtl="0"/>
            <a:r>
              <a:rPr lang="en-US" b="1" dirty="0"/>
              <a:t>Comparison to Previous Assignment: </a:t>
            </a:r>
            <a:r>
              <a:rPr lang="en-US" dirty="0"/>
              <a:t>Although very high accuracy was achieved in the first assignment, an additional class was intentionally introduced in this project in order to increase the difficulty of the classification task. This added complexity likely explains the relatively lower performance observed in the current results.</a:t>
            </a:r>
          </a:p>
          <a:p>
            <a:pPr algn="l" rtl="0"/>
            <a:r>
              <a:rPr lang="en-US" b="1" dirty="0"/>
              <a:t>The Decision:</a:t>
            </a:r>
            <a:r>
              <a:rPr lang="en-US" dirty="0"/>
              <a:t> I decided to add a 4th class “</a:t>
            </a:r>
            <a:r>
              <a:rPr lang="en-US" b="1" dirty="0"/>
              <a:t>Latte” </a:t>
            </a:r>
            <a:r>
              <a:rPr lang="en-US" dirty="0"/>
              <a:t>despite the extra work required to collect more data.</a:t>
            </a:r>
          </a:p>
          <a:p>
            <a:pPr algn="l" rtl="0"/>
            <a:r>
              <a:rPr lang="en-US" b="1" dirty="0"/>
              <a:t>Why Latte?</a:t>
            </a:r>
            <a:r>
              <a:rPr lang="en-US" dirty="0"/>
              <a:t> Lattes and Cappuccinos are "Fine-Grained" classes. They look almost identical to the untrained eye.</a:t>
            </a:r>
          </a:p>
          <a:p>
            <a:pPr algn="l" rtl="0"/>
            <a:r>
              <a:rPr lang="en-US" b="1" dirty="0"/>
              <a:t>The Goal:</a:t>
            </a:r>
            <a:r>
              <a:rPr lang="en-US" dirty="0"/>
              <a:t> To test if the model could distinguish between subtle milk to foam ratios and textures, even with a small, manually collected dataset.</a:t>
            </a:r>
          </a:p>
          <a:p>
            <a:pPr algn="l" rtl="0"/>
            <a:endParaRPr lang="en-US" dirty="0"/>
          </a:p>
          <a:p>
            <a:pPr algn="l" rtl="0"/>
            <a:endParaRPr lang="he-IL" dirty="0"/>
          </a:p>
        </p:txBody>
      </p:sp>
    </p:spTree>
    <p:extLst>
      <p:ext uri="{BB962C8B-B14F-4D97-AF65-F5344CB8AC3E}">
        <p14:creationId xmlns:p14="http://schemas.microsoft.com/office/powerpoint/2010/main" val="169229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1D80BC-7D0A-2DF6-8732-216C47313263}"/>
              </a:ext>
            </a:extLst>
          </p:cNvPr>
          <p:cNvSpPr>
            <a:spLocks noGrp="1"/>
          </p:cNvSpPr>
          <p:nvPr>
            <p:ph type="title"/>
          </p:nvPr>
        </p:nvSpPr>
        <p:spPr/>
        <p:txBody>
          <a:bodyPr>
            <a:normAutofit fontScale="90000"/>
          </a:bodyPr>
          <a:lstStyle/>
          <a:p>
            <a:r>
              <a:rPr lang="en-US" dirty="0"/>
              <a:t>Part 1: Step 1: Architecture &amp; Optimization</a:t>
            </a:r>
            <a:endParaRPr lang="he-IL" dirty="0"/>
          </a:p>
        </p:txBody>
      </p:sp>
      <p:sp>
        <p:nvSpPr>
          <p:cNvPr id="3" name="מציין מיקום תוכן 2">
            <a:extLst>
              <a:ext uri="{FF2B5EF4-FFF2-40B4-BE49-F238E27FC236}">
                <a16:creationId xmlns:a16="http://schemas.microsoft.com/office/drawing/2014/main" id="{15C26C7F-36FA-5F2C-DE83-6BF8E3B3B79A}"/>
              </a:ext>
            </a:extLst>
          </p:cNvPr>
          <p:cNvSpPr>
            <a:spLocks noGrp="1"/>
          </p:cNvSpPr>
          <p:nvPr>
            <p:ph idx="1"/>
          </p:nvPr>
        </p:nvSpPr>
        <p:spPr/>
        <p:txBody>
          <a:bodyPr>
            <a:normAutofit/>
          </a:bodyPr>
          <a:lstStyle/>
          <a:p>
            <a:pPr algn="l" rtl="0"/>
            <a:r>
              <a:rPr lang="en-US" b="1" dirty="0"/>
              <a:t>Architectures Compared:</a:t>
            </a:r>
            <a:r>
              <a:rPr lang="en-US" dirty="0"/>
              <a:t> </a:t>
            </a:r>
          </a:p>
          <a:p>
            <a:pPr lvl="1" algn="l" rtl="0"/>
            <a:r>
              <a:rPr lang="en-US" dirty="0"/>
              <a:t> </a:t>
            </a:r>
            <a:r>
              <a:rPr lang="en-US" b="1" dirty="0"/>
              <a:t>Shallow CNN:</a:t>
            </a:r>
            <a:r>
              <a:rPr lang="en-US" dirty="0"/>
              <a:t> 3 Trainable Layers (1 Conv, 2 Linear).</a:t>
            </a:r>
          </a:p>
          <a:p>
            <a:pPr lvl="1" algn="l" rtl="0"/>
            <a:r>
              <a:rPr lang="en-US" b="1" dirty="0"/>
              <a:t>Deep CNN:</a:t>
            </a:r>
            <a:r>
              <a:rPr lang="en-US" dirty="0"/>
              <a:t> 5 Trainable Layers (3 Conv, 2 Linear).</a:t>
            </a:r>
          </a:p>
          <a:p>
            <a:pPr algn="l" rtl="0"/>
            <a:r>
              <a:rPr lang="en-US" b="1" dirty="0"/>
              <a:t>Optimizers:</a:t>
            </a:r>
            <a:r>
              <a:rPr lang="en-US" dirty="0"/>
              <a:t> Adam (Adaptive) vs. SGD with Momentum.</a:t>
            </a:r>
          </a:p>
          <a:p>
            <a:pPr algn="l" rtl="0"/>
            <a:r>
              <a:rPr lang="en-US" b="1" dirty="0"/>
              <a:t>Hyperparameters:</a:t>
            </a:r>
            <a:r>
              <a:rPr lang="en-US" dirty="0"/>
              <a:t> Best performance achieved at </a:t>
            </a:r>
            <a:r>
              <a:rPr lang="en-US" b="1" dirty="0"/>
              <a:t>LR = 0.001</a:t>
            </a:r>
            <a:r>
              <a:rPr lang="en-US" dirty="0"/>
              <a:t> and </a:t>
            </a:r>
            <a:r>
              <a:rPr lang="en-US" b="1" dirty="0"/>
              <a:t>Batch Size = 32</a:t>
            </a:r>
            <a:r>
              <a:rPr lang="en-US" dirty="0"/>
              <a:t>.</a:t>
            </a:r>
          </a:p>
        </p:txBody>
      </p:sp>
    </p:spTree>
    <p:extLst>
      <p:ext uri="{BB962C8B-B14F-4D97-AF65-F5344CB8AC3E}">
        <p14:creationId xmlns:p14="http://schemas.microsoft.com/office/powerpoint/2010/main" val="9578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1908177-F9D6-F079-E286-459E4FD51D24}"/>
              </a:ext>
            </a:extLst>
          </p:cNvPr>
          <p:cNvSpPr>
            <a:spLocks noGrp="1"/>
          </p:cNvSpPr>
          <p:nvPr>
            <p:ph type="title"/>
          </p:nvPr>
        </p:nvSpPr>
        <p:spPr/>
        <p:txBody>
          <a:bodyPr>
            <a:normAutofit fontScale="90000"/>
          </a:bodyPr>
          <a:lstStyle/>
          <a:p>
            <a:r>
              <a:rPr lang="en-US" dirty="0"/>
              <a:t>Part 1: Step 1: Architecture &amp; Optimization</a:t>
            </a:r>
            <a:endParaRPr lang="he-IL" dirty="0"/>
          </a:p>
        </p:txBody>
      </p:sp>
      <p:sp>
        <p:nvSpPr>
          <p:cNvPr id="3" name="מציין מיקום תוכן 2">
            <a:extLst>
              <a:ext uri="{FF2B5EF4-FFF2-40B4-BE49-F238E27FC236}">
                <a16:creationId xmlns:a16="http://schemas.microsoft.com/office/drawing/2014/main" id="{916A7216-F799-AD19-4B34-DCB5AC30DA62}"/>
              </a:ext>
            </a:extLst>
          </p:cNvPr>
          <p:cNvSpPr>
            <a:spLocks noGrp="1"/>
          </p:cNvSpPr>
          <p:nvPr>
            <p:ph idx="1"/>
          </p:nvPr>
        </p:nvSpPr>
        <p:spPr>
          <a:xfrm>
            <a:off x="914400" y="2408903"/>
            <a:ext cx="10579510" cy="4159046"/>
          </a:xfrm>
        </p:spPr>
        <p:txBody>
          <a:bodyPr>
            <a:normAutofit fontScale="85000" lnSpcReduction="20000"/>
          </a:bodyPr>
          <a:lstStyle/>
          <a:p>
            <a:pPr marL="0" indent="0" algn="l" rtl="0">
              <a:buNone/>
            </a:pPr>
            <a:r>
              <a:rPr lang="en-US" b="1" dirty="0"/>
              <a:t>Key Findings</a:t>
            </a:r>
          </a:p>
          <a:p>
            <a:pPr marL="0" indent="0" algn="l" rtl="0">
              <a:buNone/>
            </a:pPr>
            <a:r>
              <a:rPr lang="en-US" b="1" dirty="0"/>
              <a:t>1. Optimization: The Adam Advantage</a:t>
            </a:r>
          </a:p>
          <a:p>
            <a:pPr algn="l" rtl="0"/>
            <a:r>
              <a:rPr lang="en-US" b="1" dirty="0"/>
              <a:t>Faster Convergence:</a:t>
            </a:r>
            <a:r>
              <a:rPr lang="en-US" dirty="0"/>
              <a:t> Adam reached stability in significantly fewer epochs compared to SGD.</a:t>
            </a:r>
          </a:p>
          <a:p>
            <a:pPr algn="l" rtl="0"/>
            <a:r>
              <a:rPr lang="en-US" b="1" dirty="0"/>
              <a:t>Adaptive Learning:</a:t>
            </a:r>
            <a:r>
              <a:rPr lang="en-US" dirty="0"/>
              <a:t> Its ability to adjust the learning rate per parameter proved vital for navigating the complex textures of coffee imagery with minimal manual tuning.</a:t>
            </a:r>
          </a:p>
          <a:p>
            <a:pPr marL="0" indent="0" algn="l" rtl="0">
              <a:buNone/>
            </a:pPr>
            <a:r>
              <a:rPr lang="en-US" b="1" dirty="0"/>
              <a:t>2. Architecture: Depth Matters</a:t>
            </a:r>
          </a:p>
          <a:p>
            <a:pPr algn="l" rtl="0"/>
            <a:r>
              <a:rPr lang="en-US" b="1" dirty="0"/>
              <a:t>Feature Extraction:</a:t>
            </a:r>
            <a:r>
              <a:rPr lang="en-US" dirty="0"/>
              <a:t> Across all experiments, the Deep CNN consistently outperformed the Shallow CNN, achieving a peak test accuracy of </a:t>
            </a:r>
            <a:r>
              <a:rPr lang="en-US" b="1" dirty="0"/>
              <a:t>~83.5%</a:t>
            </a:r>
            <a:r>
              <a:rPr lang="en-US" dirty="0"/>
              <a:t>. The additional depth enabled better hierarchical feature extraction and improved generalization.</a:t>
            </a:r>
          </a:p>
          <a:p>
            <a:pPr algn="l" rtl="0"/>
            <a:r>
              <a:rPr lang="en-US" b="1" dirty="0"/>
              <a:t>The Depth Trade-off:</a:t>
            </a:r>
            <a:r>
              <a:rPr lang="en-US" dirty="0"/>
              <a:t> While deeper models reached higher accuracy, they were more sensitive to hyperparameters such as learning rate and batch size. In contrast, the Shallow CNN showed more stable training behavior but with a lower performance ceiling (typically </a:t>
            </a:r>
            <a:r>
              <a:rPr lang="en-US" b="1" dirty="0"/>
              <a:t>~70–75%</a:t>
            </a:r>
            <a:r>
              <a:rPr lang="en-US" dirty="0"/>
              <a:t> test accuracy).</a:t>
            </a:r>
          </a:p>
          <a:p>
            <a:pPr algn="l" rtl="0"/>
            <a:endParaRPr lang="he-IL" dirty="0"/>
          </a:p>
        </p:txBody>
      </p:sp>
    </p:spTree>
    <p:extLst>
      <p:ext uri="{BB962C8B-B14F-4D97-AF65-F5344CB8AC3E}">
        <p14:creationId xmlns:p14="http://schemas.microsoft.com/office/powerpoint/2010/main" val="3370167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47A2075-5D66-B371-659B-386A68043823}"/>
              </a:ext>
            </a:extLst>
          </p:cNvPr>
          <p:cNvSpPr>
            <a:spLocks noGrp="1"/>
          </p:cNvSpPr>
          <p:nvPr>
            <p:ph type="title"/>
          </p:nvPr>
        </p:nvSpPr>
        <p:spPr/>
        <p:txBody>
          <a:bodyPr/>
          <a:lstStyle/>
          <a:p>
            <a:r>
              <a:rPr lang="en-US" dirty="0"/>
              <a:t>Part 1 - Step 2: Batch Normalization (BN)</a:t>
            </a:r>
            <a:endParaRPr lang="he-IL" dirty="0"/>
          </a:p>
        </p:txBody>
      </p:sp>
      <p:sp>
        <p:nvSpPr>
          <p:cNvPr id="3" name="מציין מיקום תוכן 2">
            <a:extLst>
              <a:ext uri="{FF2B5EF4-FFF2-40B4-BE49-F238E27FC236}">
                <a16:creationId xmlns:a16="http://schemas.microsoft.com/office/drawing/2014/main" id="{1121EA53-46EC-B3E9-E286-F690BE7FA80B}"/>
              </a:ext>
            </a:extLst>
          </p:cNvPr>
          <p:cNvSpPr>
            <a:spLocks noGrp="1"/>
          </p:cNvSpPr>
          <p:nvPr>
            <p:ph idx="1"/>
          </p:nvPr>
        </p:nvSpPr>
        <p:spPr/>
        <p:txBody>
          <a:bodyPr>
            <a:normAutofit/>
          </a:bodyPr>
          <a:lstStyle/>
          <a:p>
            <a:pPr marL="0" indent="0" algn="l" rtl="0">
              <a:buNone/>
            </a:pPr>
            <a:r>
              <a:rPr lang="en-US" b="1" dirty="0"/>
              <a:t>Implementation:</a:t>
            </a:r>
            <a:r>
              <a:rPr lang="en-US" dirty="0"/>
              <a:t> Added nn.BatchNorm2d after convolutional layers.</a:t>
            </a:r>
          </a:p>
          <a:p>
            <a:pPr marL="0" indent="0" algn="l" rtl="0">
              <a:buNone/>
            </a:pPr>
            <a:r>
              <a:rPr lang="en-US" b="1" dirty="0"/>
              <a:t>Comparative Analysis</a:t>
            </a:r>
          </a:p>
          <a:p>
            <a:pPr lvl="1" algn="l" rtl="0"/>
            <a:r>
              <a:rPr lang="en-US" dirty="0"/>
              <a:t>Performance Degradation: Contrary to theoretical expectations, adding Batch Normalization (BN) led to a decrease in performance. The standard CNN achieved a peak test accuracy of </a:t>
            </a:r>
            <a:r>
              <a:rPr lang="en-US" b="1" dirty="0"/>
              <a:t>84.54%  </a:t>
            </a:r>
            <a:r>
              <a:rPr lang="en-US" dirty="0"/>
              <a:t>while the BN-enabled model reached only </a:t>
            </a:r>
            <a:r>
              <a:rPr lang="en-US" b="1" dirty="0"/>
              <a:t>78.35%</a:t>
            </a:r>
          </a:p>
          <a:p>
            <a:pPr marL="0" indent="0" algn="l" rtl="0">
              <a:buNone/>
            </a:pPr>
            <a:endParaRPr lang="en-US" b="1" dirty="0"/>
          </a:p>
          <a:p>
            <a:pPr marL="0" indent="0" algn="l" rtl="0">
              <a:buNone/>
            </a:pPr>
            <a:endParaRPr lang="en-US" b="1" dirty="0"/>
          </a:p>
          <a:p>
            <a:pPr algn="l" rtl="0"/>
            <a:endParaRPr lang="he-IL" dirty="0"/>
          </a:p>
        </p:txBody>
      </p:sp>
    </p:spTree>
    <p:extLst>
      <p:ext uri="{BB962C8B-B14F-4D97-AF65-F5344CB8AC3E}">
        <p14:creationId xmlns:p14="http://schemas.microsoft.com/office/powerpoint/2010/main" val="782374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7AB60B8-9A80-9EF3-8392-5EE0463AF3C7}"/>
              </a:ext>
            </a:extLst>
          </p:cNvPr>
          <p:cNvSpPr>
            <a:spLocks noGrp="1" noChangeArrowheads="1"/>
          </p:cNvSpPr>
          <p:nvPr>
            <p:ph idx="1"/>
          </p:nvPr>
        </p:nvSpPr>
        <p:spPr bwMode="auto">
          <a:xfrm>
            <a:off x="1016409" y="682094"/>
            <a:ext cx="10336163"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l" defTabSz="914400" rtl="0" eaLnBrk="0" fontAlgn="base" hangingPunct="0">
              <a:spcBef>
                <a:spcPct val="0"/>
              </a:spcBef>
              <a:spcAft>
                <a:spcPct val="0"/>
              </a:spcAft>
              <a:buClrTx/>
              <a:buSzTx/>
            </a:pPr>
            <a:r>
              <a:rPr lang="en-US" b="1" dirty="0"/>
              <a:t>Training Instability:</a:t>
            </a:r>
            <a:r>
              <a:rPr lang="en-US" dirty="0"/>
              <a:t> The BN model exhibited significantly higher initial volatility. At LR=0.001, the starting  loss for the BN model was </a:t>
            </a:r>
            <a:r>
              <a:rPr lang="en-US" b="1" dirty="0"/>
              <a:t>35.08</a:t>
            </a:r>
            <a:r>
              <a:rPr lang="en-US" dirty="0"/>
              <a:t>, compared to </a:t>
            </a:r>
            <a:r>
              <a:rPr lang="en-US" b="1" dirty="0"/>
              <a:t>14.28</a:t>
            </a:r>
            <a:r>
              <a:rPr lang="en-US" dirty="0"/>
              <a:t> for the standard CNN. Even after stabilization, the BN model failed to reach the same generalization ceiling.</a:t>
            </a:r>
          </a:p>
          <a:p>
            <a:pPr marL="0" lvl="0" indent="0" algn="l" defTabSz="914400" rtl="0" eaLnBrk="0" fontAlgn="base" hangingPunct="0">
              <a:spcBef>
                <a:spcPct val="0"/>
              </a:spcBef>
              <a:spcAft>
                <a:spcPct val="0"/>
              </a:spcAft>
              <a:buClrTx/>
              <a:buSzTx/>
              <a:buNone/>
            </a:pPr>
            <a:endParaRPr kumimoji="0" lang="en-US" altLang="he-IL" sz="1800" b="0" i="0" u="none" strike="noStrike" cap="none" normalizeH="0" baseline="0" dirty="0">
              <a:ln>
                <a:noFill/>
              </a:ln>
              <a:solidFill>
                <a:schemeClr val="tx1"/>
              </a:solidFill>
              <a:effectLst/>
            </a:endParaRPr>
          </a:p>
          <a:p>
            <a:pPr algn="l" defTabSz="914400" rtl="0" eaLnBrk="0" fontAlgn="base" hangingPunct="0">
              <a:spcBef>
                <a:spcPct val="0"/>
              </a:spcBef>
              <a:spcAft>
                <a:spcPct val="0"/>
              </a:spcAft>
              <a:buClrTx/>
              <a:buSzTx/>
            </a:pPr>
            <a:r>
              <a:rPr lang="en-US" b="1" dirty="0"/>
              <a:t>Optimization Hindrance: </a:t>
            </a:r>
            <a:r>
              <a:rPr lang="en-US" dirty="0"/>
              <a:t>In this specific architecture and dataset, BN appeared to introduce excessive noise or over-regularization. Instead of smoothing the loss landscape, it created a performance plateau, where the model struggled to reduce Validation Loss in the final stages of training (Epochs 30-40).</a:t>
            </a:r>
          </a:p>
          <a:p>
            <a:pPr algn="l" defTabSz="914400" rtl="0" eaLnBrk="0" fontAlgn="base" hangingPunct="0">
              <a:spcBef>
                <a:spcPct val="0"/>
              </a:spcBef>
              <a:spcAft>
                <a:spcPct val="0"/>
              </a:spcAft>
              <a:buClrTx/>
              <a:buSzTx/>
            </a:pPr>
            <a:endParaRPr lang="en-US" altLang="he-IL" dirty="0"/>
          </a:p>
          <a:p>
            <a:pPr algn="l" defTabSz="914400" rtl="0" eaLnBrk="0" fontAlgn="base" hangingPunct="0">
              <a:spcBef>
                <a:spcPct val="0"/>
              </a:spcBef>
              <a:spcAft>
                <a:spcPct val="0"/>
              </a:spcAft>
              <a:buClrTx/>
              <a:buSzTx/>
            </a:pPr>
            <a:r>
              <a:rPr lang="en-US" b="1" dirty="0"/>
              <a:t>Overfitting and Regularization:</a:t>
            </a:r>
            <a:r>
              <a:rPr lang="en-US" dirty="0"/>
              <a:t> In small scale datasets, Batch Normalization can sometimes introduce unwanted stochastic noise that hinders the learning process instead of helping it. The results suggest that for this specific data volume, the internal covariate shift was not the primary bottleneck, and the added complexity of BN layers may have led to sub-optimal generalization.</a:t>
            </a:r>
            <a:endParaRPr lang="he-IL" altLang="he-IL" dirty="0"/>
          </a:p>
        </p:txBody>
      </p:sp>
    </p:spTree>
    <p:extLst>
      <p:ext uri="{BB962C8B-B14F-4D97-AF65-F5344CB8AC3E}">
        <p14:creationId xmlns:p14="http://schemas.microsoft.com/office/powerpoint/2010/main" val="2836356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7AD6B8A-38A0-CA33-3EF0-942C6DE49AF9}"/>
              </a:ext>
            </a:extLst>
          </p:cNvPr>
          <p:cNvSpPr>
            <a:spLocks noGrp="1"/>
          </p:cNvSpPr>
          <p:nvPr>
            <p:ph type="title"/>
          </p:nvPr>
        </p:nvSpPr>
        <p:spPr/>
        <p:txBody>
          <a:bodyPr>
            <a:normAutofit fontScale="90000"/>
          </a:bodyPr>
          <a:lstStyle/>
          <a:p>
            <a:r>
              <a:rPr lang="en-US" dirty="0"/>
              <a:t>Part 1 - Step 3: Regularization &amp; Overfitting</a:t>
            </a:r>
            <a:endParaRPr lang="he-IL" dirty="0"/>
          </a:p>
        </p:txBody>
      </p:sp>
      <p:sp>
        <p:nvSpPr>
          <p:cNvPr id="3" name="מציין מיקום תוכן 2">
            <a:extLst>
              <a:ext uri="{FF2B5EF4-FFF2-40B4-BE49-F238E27FC236}">
                <a16:creationId xmlns:a16="http://schemas.microsoft.com/office/drawing/2014/main" id="{170EEB34-C73A-4D00-49EE-A69D88FBC950}"/>
              </a:ext>
            </a:extLst>
          </p:cNvPr>
          <p:cNvSpPr>
            <a:spLocks noGrp="1"/>
          </p:cNvSpPr>
          <p:nvPr>
            <p:ph idx="1"/>
          </p:nvPr>
        </p:nvSpPr>
        <p:spPr/>
        <p:txBody>
          <a:bodyPr>
            <a:normAutofit/>
          </a:bodyPr>
          <a:lstStyle/>
          <a:p>
            <a:pPr algn="l" rtl="0"/>
            <a:r>
              <a:rPr lang="en-US" dirty="0"/>
              <a:t>Regularization Techniques Applied:</a:t>
            </a:r>
          </a:p>
          <a:p>
            <a:pPr lvl="1" algn="l" rtl="0"/>
            <a:r>
              <a:rPr lang="en-US" dirty="0"/>
              <a:t>1. </a:t>
            </a:r>
            <a:r>
              <a:rPr lang="en-US" b="1" dirty="0"/>
              <a:t>Dropout (0.2):</a:t>
            </a:r>
            <a:r>
              <a:rPr lang="en-US" dirty="0"/>
              <a:t> Randomly deactivated neurons to prevent reliance on specific pixels.</a:t>
            </a:r>
          </a:p>
          <a:p>
            <a:pPr lvl="1" algn="l" rtl="0"/>
            <a:r>
              <a:rPr lang="en-US" dirty="0"/>
              <a:t>2. </a:t>
            </a:r>
            <a:r>
              <a:rPr lang="en-US" b="1" dirty="0"/>
              <a:t>Weight Decay (1e-4):</a:t>
            </a:r>
            <a:r>
              <a:rPr lang="en-US" dirty="0"/>
              <a:t> Applied L2 regularization to penalize large weights, encouraging a simpler, smoother decision boundary and preventing overfitting.</a:t>
            </a:r>
          </a:p>
          <a:p>
            <a:pPr lvl="1" algn="l" rtl="0"/>
            <a:r>
              <a:rPr lang="en-US" dirty="0"/>
              <a:t>3. </a:t>
            </a:r>
            <a:r>
              <a:rPr lang="en-US" b="1" dirty="0"/>
              <a:t>Data Augmentation:</a:t>
            </a:r>
            <a:r>
              <a:rPr lang="en-US" dirty="0"/>
              <a:t> Implemented </a:t>
            </a:r>
            <a:r>
              <a:rPr lang="en-US" dirty="0" err="1"/>
              <a:t>train_transforms_aggressive</a:t>
            </a:r>
            <a:endParaRPr lang="en-US" dirty="0"/>
          </a:p>
        </p:txBody>
      </p:sp>
    </p:spTree>
    <p:extLst>
      <p:ext uri="{BB962C8B-B14F-4D97-AF65-F5344CB8AC3E}">
        <p14:creationId xmlns:p14="http://schemas.microsoft.com/office/powerpoint/2010/main" val="294972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6C978E3-6C95-0A71-4134-4E1F13615979}"/>
              </a:ext>
            </a:extLst>
          </p:cNvPr>
          <p:cNvSpPr>
            <a:spLocks noGrp="1"/>
          </p:cNvSpPr>
          <p:nvPr>
            <p:ph type="title"/>
          </p:nvPr>
        </p:nvSpPr>
        <p:spPr/>
        <p:txBody>
          <a:bodyPr/>
          <a:lstStyle/>
          <a:p>
            <a:r>
              <a:rPr lang="en-US" dirty="0"/>
              <a:t>The results</a:t>
            </a:r>
            <a:endParaRPr lang="he-IL" dirty="0"/>
          </a:p>
        </p:txBody>
      </p:sp>
      <p:graphicFrame>
        <p:nvGraphicFramePr>
          <p:cNvPr id="4" name="מציין מיקום תוכן 3">
            <a:extLst>
              <a:ext uri="{FF2B5EF4-FFF2-40B4-BE49-F238E27FC236}">
                <a16:creationId xmlns:a16="http://schemas.microsoft.com/office/drawing/2014/main" id="{CE0822DD-371C-691D-D4EC-B3E7816715BF}"/>
              </a:ext>
            </a:extLst>
          </p:cNvPr>
          <p:cNvGraphicFramePr>
            <a:graphicFrameLocks noGrp="1"/>
          </p:cNvGraphicFramePr>
          <p:nvPr>
            <p:ph idx="1"/>
            <p:extLst>
              <p:ext uri="{D42A27DB-BD31-4B8C-83A1-F6EECF244321}">
                <p14:modId xmlns:p14="http://schemas.microsoft.com/office/powerpoint/2010/main" val="2451512344"/>
              </p:ext>
            </p:extLst>
          </p:nvPr>
        </p:nvGraphicFramePr>
        <p:xfrm>
          <a:off x="1704694" y="2379406"/>
          <a:ext cx="8589679" cy="3818196"/>
        </p:xfrm>
        <a:graphic>
          <a:graphicData uri="http://schemas.openxmlformats.org/drawingml/2006/table">
            <a:tbl>
              <a:tblPr/>
              <a:tblGrid>
                <a:gridCol w="2376854">
                  <a:extLst>
                    <a:ext uri="{9D8B030D-6E8A-4147-A177-3AD203B41FA5}">
                      <a16:colId xmlns:a16="http://schemas.microsoft.com/office/drawing/2014/main" val="2519795848"/>
                    </a:ext>
                  </a:extLst>
                </a:gridCol>
                <a:gridCol w="2376854">
                  <a:extLst>
                    <a:ext uri="{9D8B030D-6E8A-4147-A177-3AD203B41FA5}">
                      <a16:colId xmlns:a16="http://schemas.microsoft.com/office/drawing/2014/main" val="4232727221"/>
                    </a:ext>
                  </a:extLst>
                </a:gridCol>
                <a:gridCol w="1459117">
                  <a:extLst>
                    <a:ext uri="{9D8B030D-6E8A-4147-A177-3AD203B41FA5}">
                      <a16:colId xmlns:a16="http://schemas.microsoft.com/office/drawing/2014/main" val="938671760"/>
                    </a:ext>
                  </a:extLst>
                </a:gridCol>
                <a:gridCol w="2376854">
                  <a:extLst>
                    <a:ext uri="{9D8B030D-6E8A-4147-A177-3AD203B41FA5}">
                      <a16:colId xmlns:a16="http://schemas.microsoft.com/office/drawing/2014/main" val="1595651716"/>
                    </a:ext>
                  </a:extLst>
                </a:gridCol>
              </a:tblGrid>
              <a:tr h="352540">
                <a:tc>
                  <a:txBody>
                    <a:bodyPr/>
                    <a:lstStyle/>
                    <a:p>
                      <a:pPr rtl="0">
                        <a:buNone/>
                      </a:pPr>
                      <a:r>
                        <a:rPr lang="en-US" b="1" dirty="0">
                          <a:solidFill>
                            <a:srgbClr val="1F1F1F"/>
                          </a:solidFill>
                          <a:effectLst/>
                          <a:latin typeface="Google Sans Text"/>
                        </a:rPr>
                        <a:t>Experiment</a:t>
                      </a:r>
                      <a:endParaRPr lang="en-US"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Final Train Loss</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Best Val Acc</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Test Accuracy</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12898397"/>
                  </a:ext>
                </a:extLst>
              </a:tr>
              <a:tr h="352540">
                <a:tc>
                  <a:txBody>
                    <a:bodyPr/>
                    <a:lstStyle/>
                    <a:p>
                      <a:pPr rtl="0">
                        <a:buNone/>
                      </a:pPr>
                      <a:r>
                        <a:rPr lang="en-US">
                          <a:solidFill>
                            <a:srgbClr val="1F1F1F"/>
                          </a:solidFill>
                          <a:effectLst/>
                          <a:latin typeface="Google Sans Text"/>
                        </a:rPr>
                        <a:t>Baseline (No Reg)</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0.0316</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74.23%</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69.07%</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44138497"/>
                  </a:ext>
                </a:extLst>
              </a:tr>
              <a:tr h="352540">
                <a:tc>
                  <a:txBody>
                    <a:bodyPr/>
                    <a:lstStyle/>
                    <a:p>
                      <a:pPr rtl="0">
                        <a:buNone/>
                      </a:pPr>
                      <a:r>
                        <a:rPr lang="en-US">
                          <a:solidFill>
                            <a:srgbClr val="1F1F1F"/>
                          </a:solidFill>
                          <a:effectLst/>
                          <a:latin typeface="Google Sans Text"/>
                        </a:rPr>
                        <a:t>With Weight Decay</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0.0155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75.26%</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65.98%</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07599457"/>
                  </a:ext>
                </a:extLst>
              </a:tr>
              <a:tr h="545741">
                <a:tc>
                  <a:txBody>
                    <a:bodyPr/>
                    <a:lstStyle/>
                    <a:p>
                      <a:pPr rtl="0">
                        <a:buNone/>
                      </a:pPr>
                      <a:r>
                        <a:rPr lang="en-US" b="1">
                          <a:solidFill>
                            <a:srgbClr val="1F1F1F"/>
                          </a:solidFill>
                          <a:effectLst/>
                          <a:latin typeface="Google Sans Text"/>
                        </a:rPr>
                        <a:t>With Augmentation</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0.5089</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76.29%</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81.44%</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93691875"/>
                  </a:ext>
                </a:extLst>
              </a:tr>
              <a:tr h="768997">
                <a:tc>
                  <a:txBody>
                    <a:bodyPr/>
                    <a:lstStyle/>
                    <a:p>
                      <a:pPr rtl="0">
                        <a:buNone/>
                      </a:pPr>
                      <a:r>
                        <a:rPr lang="en-US">
                          <a:solidFill>
                            <a:srgbClr val="1F1F1F"/>
                          </a:solidFill>
                          <a:effectLst/>
                          <a:latin typeface="Google Sans Text"/>
                        </a:rPr>
                        <a:t>WD + Augmentation</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0.2814</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84.54%</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77.32%</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68195850"/>
                  </a:ext>
                </a:extLst>
              </a:tr>
              <a:tr h="545741">
                <a:tc>
                  <a:txBody>
                    <a:bodyPr/>
                    <a:lstStyle/>
                    <a:p>
                      <a:pPr rtl="0">
                        <a:buNone/>
                      </a:pPr>
                      <a:r>
                        <a:rPr lang="en-US">
                          <a:solidFill>
                            <a:srgbClr val="1F1F1F"/>
                          </a:solidFill>
                          <a:effectLst/>
                          <a:latin typeface="Google Sans Text"/>
                        </a:rPr>
                        <a:t>WD + Aug + BN</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0.3233</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80.41%</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76.29%</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46058942"/>
                  </a:ext>
                </a:extLst>
              </a:tr>
              <a:tr h="768997">
                <a:tc>
                  <a:txBody>
                    <a:bodyPr/>
                    <a:lstStyle/>
                    <a:p>
                      <a:pPr rtl="0">
                        <a:buNone/>
                      </a:pPr>
                      <a:r>
                        <a:rPr lang="en-US">
                          <a:solidFill>
                            <a:srgbClr val="1F1F1F"/>
                          </a:solidFill>
                          <a:effectLst/>
                          <a:latin typeface="Google Sans Text"/>
                        </a:rPr>
                        <a:t>Aug + BN</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0.4635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83.51%</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dirty="0">
                          <a:solidFill>
                            <a:srgbClr val="1F1F1F"/>
                          </a:solidFill>
                          <a:effectLst/>
                          <a:latin typeface="Google Sans Text"/>
                        </a:rPr>
                        <a:t>78.35%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6360978"/>
                  </a:ext>
                </a:extLst>
              </a:tr>
            </a:tbl>
          </a:graphicData>
        </a:graphic>
      </p:graphicFrame>
    </p:spTree>
    <p:extLst>
      <p:ext uri="{BB962C8B-B14F-4D97-AF65-F5344CB8AC3E}">
        <p14:creationId xmlns:p14="http://schemas.microsoft.com/office/powerpoint/2010/main" val="1991358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DEC01506-F67C-5642-7364-805BD04A3F75}"/>
              </a:ext>
            </a:extLst>
          </p:cNvPr>
          <p:cNvSpPr>
            <a:spLocks noGrp="1"/>
          </p:cNvSpPr>
          <p:nvPr>
            <p:ph idx="1"/>
          </p:nvPr>
        </p:nvSpPr>
        <p:spPr>
          <a:xfrm>
            <a:off x="931607" y="2492480"/>
            <a:ext cx="10414819" cy="3800166"/>
          </a:xfrm>
        </p:spPr>
        <p:txBody>
          <a:bodyPr>
            <a:normAutofit fontScale="85000" lnSpcReduction="10000"/>
          </a:bodyPr>
          <a:lstStyle/>
          <a:p>
            <a:pPr algn="l" rtl="0"/>
            <a:r>
              <a:rPr lang="en-US" b="1" dirty="0"/>
              <a:t>The Power of Data Augmentation:</a:t>
            </a:r>
            <a:r>
              <a:rPr lang="en-US" dirty="0"/>
              <a:t>  Data augmentation was the most decisive factor in improving model performance on our small dataset (440 training samples). Introducing visual variety boosted the test accuracy from </a:t>
            </a:r>
            <a:r>
              <a:rPr lang="en-US" b="1" dirty="0"/>
              <a:t>69.07%</a:t>
            </a:r>
            <a:r>
              <a:rPr lang="en-US" dirty="0"/>
              <a:t> (Baseline) to </a:t>
            </a:r>
            <a:r>
              <a:rPr lang="en-US" b="1" dirty="0"/>
              <a:t>81.44%</a:t>
            </a:r>
            <a:r>
              <a:rPr lang="en-US" dirty="0"/>
              <a:t>. This proves that for small datasets, increasing visual entropy is more effective than structural changes to the model.</a:t>
            </a:r>
          </a:p>
          <a:p>
            <a:pPr algn="l" rtl="0"/>
            <a:r>
              <a:rPr lang="en-US" b="1" dirty="0"/>
              <a:t>Weight Decay Effectiveness:</a:t>
            </a:r>
            <a:r>
              <a:rPr lang="en-US" dirty="0"/>
              <a:t> L2 regularization (Weight Decay) provided mixed results. While it successfully "smoothed" the learning process by narrowing the gap between training and validation loss, it was only truly effective when paired with Augmentation. Used alone, it actually caused a slight performance drop, suggesting that it can be too restrictive if the training data lacks variety.</a:t>
            </a:r>
          </a:p>
          <a:p>
            <a:pPr algn="l" rtl="0"/>
            <a:r>
              <a:rPr lang="en-US" b="1" dirty="0"/>
              <a:t>Strong Generalization:</a:t>
            </a:r>
            <a:r>
              <a:rPr lang="en-US" dirty="0"/>
              <a:t> In the regularized trials, particularly those using Augmentation, the gap between Validation and Test Accuracy was significantly reduced. This indicates that the model successfully learned robust features and avoided the severe overfitting seen in the non regularized baseline.</a:t>
            </a:r>
          </a:p>
        </p:txBody>
      </p:sp>
      <p:sp>
        <p:nvSpPr>
          <p:cNvPr id="4" name="כותרת 1">
            <a:extLst>
              <a:ext uri="{FF2B5EF4-FFF2-40B4-BE49-F238E27FC236}">
                <a16:creationId xmlns:a16="http://schemas.microsoft.com/office/drawing/2014/main" id="{E466D4D9-BCC7-A54B-186C-9ECE48F2685B}"/>
              </a:ext>
            </a:extLst>
          </p:cNvPr>
          <p:cNvSpPr>
            <a:spLocks noGrp="1"/>
          </p:cNvSpPr>
          <p:nvPr>
            <p:ph type="title"/>
          </p:nvPr>
        </p:nvSpPr>
        <p:spPr>
          <a:xfrm>
            <a:off x="1295402" y="982132"/>
            <a:ext cx="9601196" cy="1303867"/>
          </a:xfrm>
        </p:spPr>
        <p:txBody>
          <a:bodyPr/>
          <a:lstStyle/>
          <a:p>
            <a:pPr rtl="0"/>
            <a:r>
              <a:rPr lang="en-US" b="1" dirty="0"/>
              <a:t>Key Insights &amp; Technical Analysis</a:t>
            </a:r>
          </a:p>
        </p:txBody>
      </p:sp>
    </p:spTree>
    <p:extLst>
      <p:ext uri="{BB962C8B-B14F-4D97-AF65-F5344CB8AC3E}">
        <p14:creationId xmlns:p14="http://schemas.microsoft.com/office/powerpoint/2010/main" val="2705855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4866E8-7A38-FA3D-76D5-70778288A762}"/>
              </a:ext>
            </a:extLst>
          </p:cNvPr>
          <p:cNvSpPr>
            <a:spLocks noGrp="1"/>
          </p:cNvSpPr>
          <p:nvPr>
            <p:ph type="title"/>
          </p:nvPr>
        </p:nvSpPr>
        <p:spPr/>
        <p:txBody>
          <a:bodyPr>
            <a:normAutofit fontScale="90000"/>
          </a:bodyPr>
          <a:lstStyle/>
          <a:p>
            <a:r>
              <a:rPr lang="en-US" dirty="0"/>
              <a:t>Part 2 - Pretraining on CIFAR-10 (Steps 4-5)</a:t>
            </a:r>
            <a:endParaRPr lang="he-IL" dirty="0"/>
          </a:p>
        </p:txBody>
      </p:sp>
      <p:sp>
        <p:nvSpPr>
          <p:cNvPr id="3" name="מציין מיקום תוכן 2">
            <a:extLst>
              <a:ext uri="{FF2B5EF4-FFF2-40B4-BE49-F238E27FC236}">
                <a16:creationId xmlns:a16="http://schemas.microsoft.com/office/drawing/2014/main" id="{AD16FDC1-15B8-B9C0-6750-3988218A9EC5}"/>
              </a:ext>
            </a:extLst>
          </p:cNvPr>
          <p:cNvSpPr>
            <a:spLocks noGrp="1"/>
          </p:cNvSpPr>
          <p:nvPr>
            <p:ph idx="1"/>
          </p:nvPr>
        </p:nvSpPr>
        <p:spPr/>
        <p:txBody>
          <a:bodyPr>
            <a:normAutofit/>
          </a:bodyPr>
          <a:lstStyle/>
          <a:p>
            <a:pPr algn="l" rtl="0"/>
            <a:r>
              <a:rPr lang="en-US" b="1" dirty="0"/>
              <a:t>The Strategy:</a:t>
            </a:r>
            <a:r>
              <a:rPr lang="en-US" dirty="0"/>
              <a:t> Training my custom CNN on </a:t>
            </a:r>
            <a:r>
              <a:rPr lang="en-US" b="1" dirty="0"/>
              <a:t>CIFAR-10</a:t>
            </a:r>
            <a:r>
              <a:rPr lang="en-US" dirty="0"/>
              <a:t> (50,000 images) first.</a:t>
            </a:r>
          </a:p>
          <a:p>
            <a:pPr algn="l" rtl="0"/>
            <a:r>
              <a:rPr lang="en-US" b="1" dirty="0"/>
              <a:t>Rationale:</a:t>
            </a:r>
            <a:r>
              <a:rPr lang="en-US" dirty="0"/>
              <a:t> CIFAR-10 teaches the model low level features (edges, textures) that are universal, even if the classes are different from coffee.</a:t>
            </a:r>
          </a:p>
          <a:p>
            <a:pPr algn="l" rtl="0"/>
            <a:r>
              <a:rPr lang="en-US" b="1" dirty="0"/>
              <a:t>Fine-Tuning:</a:t>
            </a:r>
            <a:r>
              <a:rPr lang="en-US" dirty="0"/>
              <a:t> Loaded </a:t>
            </a:r>
            <a:r>
              <a:rPr lang="en-US" dirty="0" err="1"/>
              <a:t>my_cifar_weights.pth</a:t>
            </a:r>
            <a:r>
              <a:rPr lang="en-US" dirty="0"/>
              <a:t> and continued training on the coffee dataset.</a:t>
            </a:r>
          </a:p>
        </p:txBody>
      </p:sp>
    </p:spTree>
    <p:extLst>
      <p:ext uri="{BB962C8B-B14F-4D97-AF65-F5344CB8AC3E}">
        <p14:creationId xmlns:p14="http://schemas.microsoft.com/office/powerpoint/2010/main" val="4002384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0223C54-C3C2-4C5A-6455-20AA25363847}"/>
              </a:ext>
            </a:extLst>
          </p:cNvPr>
          <p:cNvSpPr>
            <a:spLocks noGrp="1"/>
          </p:cNvSpPr>
          <p:nvPr>
            <p:ph type="title"/>
          </p:nvPr>
        </p:nvSpPr>
        <p:spPr/>
        <p:txBody>
          <a:bodyPr/>
          <a:lstStyle/>
          <a:p>
            <a:r>
              <a:rPr lang="en-US" dirty="0"/>
              <a:t>The results:</a:t>
            </a:r>
            <a:endParaRPr lang="he-IL" dirty="0"/>
          </a:p>
        </p:txBody>
      </p:sp>
      <p:graphicFrame>
        <p:nvGraphicFramePr>
          <p:cNvPr id="4" name="מציין מיקום תוכן 3">
            <a:extLst>
              <a:ext uri="{FF2B5EF4-FFF2-40B4-BE49-F238E27FC236}">
                <a16:creationId xmlns:a16="http://schemas.microsoft.com/office/drawing/2014/main" id="{F29FF740-76E2-20D4-9835-E790B5BECF6F}"/>
              </a:ext>
            </a:extLst>
          </p:cNvPr>
          <p:cNvGraphicFramePr>
            <a:graphicFrameLocks noGrp="1"/>
          </p:cNvGraphicFramePr>
          <p:nvPr>
            <p:ph idx="1"/>
            <p:extLst>
              <p:ext uri="{D42A27DB-BD31-4B8C-83A1-F6EECF244321}">
                <p14:modId xmlns:p14="http://schemas.microsoft.com/office/powerpoint/2010/main" val="4071157446"/>
              </p:ext>
            </p:extLst>
          </p:nvPr>
        </p:nvGraphicFramePr>
        <p:xfrm>
          <a:off x="843116" y="2605549"/>
          <a:ext cx="9933039" cy="2979173"/>
        </p:xfrm>
        <a:graphic>
          <a:graphicData uri="http://schemas.openxmlformats.org/drawingml/2006/table">
            <a:tbl>
              <a:tblPr/>
              <a:tblGrid>
                <a:gridCol w="3311013">
                  <a:extLst>
                    <a:ext uri="{9D8B030D-6E8A-4147-A177-3AD203B41FA5}">
                      <a16:colId xmlns:a16="http://schemas.microsoft.com/office/drawing/2014/main" val="48638999"/>
                    </a:ext>
                  </a:extLst>
                </a:gridCol>
                <a:gridCol w="3311013">
                  <a:extLst>
                    <a:ext uri="{9D8B030D-6E8A-4147-A177-3AD203B41FA5}">
                      <a16:colId xmlns:a16="http://schemas.microsoft.com/office/drawing/2014/main" val="4092738226"/>
                    </a:ext>
                  </a:extLst>
                </a:gridCol>
                <a:gridCol w="3311013">
                  <a:extLst>
                    <a:ext uri="{9D8B030D-6E8A-4147-A177-3AD203B41FA5}">
                      <a16:colId xmlns:a16="http://schemas.microsoft.com/office/drawing/2014/main" val="2578746186"/>
                    </a:ext>
                  </a:extLst>
                </a:gridCol>
              </a:tblGrid>
              <a:tr h="885701">
                <a:tc>
                  <a:txBody>
                    <a:bodyPr/>
                    <a:lstStyle/>
                    <a:p>
                      <a:pPr rtl="0">
                        <a:buNone/>
                      </a:pPr>
                      <a:r>
                        <a:rPr lang="en-US" b="1">
                          <a:solidFill>
                            <a:srgbClr val="1F1F1F"/>
                          </a:solidFill>
                          <a:effectLst/>
                          <a:latin typeface="Google Sans Text"/>
                        </a:rPr>
                        <a:t>Metric</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Without Existing Weights (Scratch)</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With Pretrained Weights</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33306680"/>
                  </a:ext>
                </a:extLst>
              </a:tr>
              <a:tr h="523368">
                <a:tc>
                  <a:txBody>
                    <a:bodyPr/>
                    <a:lstStyle/>
                    <a:p>
                      <a:pPr rtl="0">
                        <a:buNone/>
                      </a:pPr>
                      <a:r>
                        <a:rPr lang="en-US" b="1">
                          <a:solidFill>
                            <a:srgbClr val="1F1F1F"/>
                          </a:solidFill>
                          <a:effectLst/>
                          <a:latin typeface="Google Sans Text"/>
                        </a:rPr>
                        <a:t>Final Test Accuracy</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80.41%</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85.57%</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11256250"/>
                  </a:ext>
                </a:extLst>
              </a:tr>
              <a:tr h="523368">
                <a:tc>
                  <a:txBody>
                    <a:bodyPr/>
                    <a:lstStyle/>
                    <a:p>
                      <a:pPr rtl="0">
                        <a:buNone/>
                      </a:pPr>
                      <a:r>
                        <a:rPr lang="en-US" b="1">
                          <a:solidFill>
                            <a:srgbClr val="1F1F1F"/>
                          </a:solidFill>
                          <a:effectLst/>
                          <a:latin typeface="Google Sans Text"/>
                        </a:rPr>
                        <a:t>Peak Validation Accuracy</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81.44% (Epoch 23)</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81.44% (Epoch 23)</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42734683"/>
                  </a:ext>
                </a:extLst>
              </a:tr>
              <a:tr h="523368">
                <a:tc>
                  <a:txBody>
                    <a:bodyPr/>
                    <a:lstStyle/>
                    <a:p>
                      <a:pPr rtl="0">
                        <a:buNone/>
                      </a:pPr>
                      <a:r>
                        <a:rPr lang="en-US" b="1">
                          <a:solidFill>
                            <a:srgbClr val="1F1F1F"/>
                          </a:solidFill>
                          <a:effectLst/>
                          <a:latin typeface="Google Sans Text"/>
                        </a:rPr>
                        <a:t>Final Training Loss</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0.4693</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0.3644</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7224130"/>
                  </a:ext>
                </a:extLst>
              </a:tr>
              <a:tr h="523368">
                <a:tc>
                  <a:txBody>
                    <a:bodyPr/>
                    <a:lstStyle/>
                    <a:p>
                      <a:pPr rtl="0">
                        <a:buNone/>
                      </a:pPr>
                      <a:r>
                        <a:rPr lang="en-US" b="1">
                          <a:solidFill>
                            <a:srgbClr val="1F1F1F"/>
                          </a:solidFill>
                          <a:effectLst/>
                          <a:latin typeface="Google Sans Text"/>
                        </a:rPr>
                        <a:t>Convergence</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Slower and more volatile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Faster and more stable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40341175"/>
                  </a:ext>
                </a:extLst>
              </a:tr>
            </a:tbl>
          </a:graphicData>
        </a:graphic>
      </p:graphicFrame>
    </p:spTree>
    <p:extLst>
      <p:ext uri="{BB962C8B-B14F-4D97-AF65-F5344CB8AC3E}">
        <p14:creationId xmlns:p14="http://schemas.microsoft.com/office/powerpoint/2010/main" val="1230286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כותרת 1">
            <a:extLst>
              <a:ext uri="{FF2B5EF4-FFF2-40B4-BE49-F238E27FC236}">
                <a16:creationId xmlns:a16="http://schemas.microsoft.com/office/drawing/2014/main" id="{225225DF-5EFF-4770-F830-CFFCBA48BA7A}"/>
              </a:ext>
            </a:extLst>
          </p:cNvPr>
          <p:cNvSpPr txBox="1">
            <a:spLocks/>
          </p:cNvSpPr>
          <p:nvPr/>
        </p:nvSpPr>
        <p:spPr>
          <a:xfrm>
            <a:off x="1447802" y="1134532"/>
            <a:ext cx="9601196" cy="1303867"/>
          </a:xfrm>
          <a:prstGeom prst="rect">
            <a:avLst/>
          </a:prstGeom>
          <a:effectLst/>
        </p:spPr>
        <p:txBody>
          <a:bodyPr vert="horz" lIns="91440" tIns="45720" rIns="91440" bIns="45720" rtlCol="0" anchor="ctr">
            <a:normAutofit/>
          </a:bodyPr>
          <a:lst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r>
              <a:rPr lang="en-US" dirty="0"/>
              <a:t>Analysis of Results</a:t>
            </a:r>
            <a:endParaRPr lang="he-IL" dirty="0"/>
          </a:p>
        </p:txBody>
      </p:sp>
      <p:sp>
        <p:nvSpPr>
          <p:cNvPr id="7" name="Rectangle 3">
            <a:extLst>
              <a:ext uri="{FF2B5EF4-FFF2-40B4-BE49-F238E27FC236}">
                <a16:creationId xmlns:a16="http://schemas.microsoft.com/office/drawing/2014/main" id="{8BF0CC3F-485E-1F9D-5745-2AE46154DA02}"/>
              </a:ext>
            </a:extLst>
          </p:cNvPr>
          <p:cNvSpPr>
            <a:spLocks noGrp="1" noChangeArrowheads="1"/>
          </p:cNvSpPr>
          <p:nvPr>
            <p:ph type="title"/>
          </p:nvPr>
        </p:nvSpPr>
        <p:spPr bwMode="auto">
          <a:xfrm>
            <a:off x="845573" y="2543984"/>
            <a:ext cx="1065816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defTabSz="914400" rtl="0" eaLnBrk="0" fontAlgn="base" hangingPunct="0">
              <a:spcAft>
                <a:spcPct val="0"/>
              </a:spcAft>
            </a:pPr>
            <a:r>
              <a:rPr lang="en-US" sz="1800" b="1" dirty="0"/>
              <a:t> </a:t>
            </a:r>
            <a:r>
              <a:rPr lang="en-US" sz="2000" b="1" dirty="0"/>
              <a:t>Performance Boost:</a:t>
            </a:r>
            <a:r>
              <a:rPr lang="en-US" sz="2000" dirty="0"/>
              <a:t> Utilizing pretrained weights significantly improved the final model performance, achieving a test accuracy of </a:t>
            </a:r>
            <a:r>
              <a:rPr lang="en-US" sz="2000" b="1" dirty="0"/>
              <a:t>85.57%</a:t>
            </a:r>
            <a:r>
              <a:rPr lang="en-US" sz="2000" dirty="0"/>
              <a:t> compared to </a:t>
            </a:r>
            <a:r>
              <a:rPr lang="en-US" sz="2000" b="1" dirty="0"/>
              <a:t>80.41%</a:t>
            </a:r>
            <a:r>
              <a:rPr lang="en-US" sz="2000" dirty="0"/>
              <a:t> when training from scratch. </a:t>
            </a:r>
            <a:br>
              <a:rPr lang="en-US" sz="2000" dirty="0"/>
            </a:br>
            <a:br>
              <a:rPr lang="en-US" sz="2000" dirty="0"/>
            </a:br>
            <a:r>
              <a:rPr lang="en-US" sz="2000" b="1" dirty="0"/>
              <a:t>Efficiency:</a:t>
            </a:r>
            <a:r>
              <a:rPr lang="en-US" sz="2000" dirty="0"/>
              <a:t> The model with pretrained weights reached lower training loss values faster, demonstrating a superior ability to extract relevant features from the dataset.</a:t>
            </a:r>
            <a:br>
              <a:rPr lang="en-US" sz="2000" dirty="0"/>
            </a:br>
            <a:br>
              <a:rPr lang="en-US" sz="2000" dirty="0">
                <a:latin typeface="+mn-lt"/>
                <a:ea typeface="+mn-ea"/>
                <a:cs typeface="+mn-cs"/>
              </a:rPr>
            </a:br>
            <a:r>
              <a:rPr lang="en-US" sz="2000" b="1" dirty="0"/>
              <a:t>Overfitting Observation:</a:t>
            </a:r>
            <a:r>
              <a:rPr lang="en-US" sz="2000" dirty="0"/>
              <a:t> In both scenarios, the Training Loss continued to decrease after Epoch 20 while the Validation Loss began to fluctuate or rise. This indicates a clear point of </a:t>
            </a:r>
            <a:r>
              <a:rPr lang="en-US" sz="2000" b="1" dirty="0"/>
              <a:t>overfitting</a:t>
            </a:r>
            <a:r>
              <a:rPr lang="en-US" sz="2000" dirty="0"/>
              <a:t>, where the model started memorizing the training data.</a:t>
            </a:r>
            <a:br>
              <a:rPr lang="en-US" sz="2000" dirty="0"/>
            </a:br>
            <a:br>
              <a:rPr lang="en-US" sz="2000" dirty="0"/>
            </a:br>
            <a:endParaRPr lang="he-IL" altLang="he-IL" sz="2000" dirty="0">
              <a:latin typeface="+mn-lt"/>
              <a:ea typeface="+mn-ea"/>
              <a:cs typeface="+mn-cs"/>
            </a:endParaRPr>
          </a:p>
        </p:txBody>
      </p:sp>
    </p:spTree>
    <p:extLst>
      <p:ext uri="{BB962C8B-B14F-4D97-AF65-F5344CB8AC3E}">
        <p14:creationId xmlns:p14="http://schemas.microsoft.com/office/powerpoint/2010/main" val="2189975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EF99DD-6397-C7C7-071D-DEB67C2B3A59}"/>
              </a:ext>
            </a:extLst>
          </p:cNvPr>
          <p:cNvSpPr>
            <a:spLocks noGrp="1"/>
          </p:cNvSpPr>
          <p:nvPr>
            <p:ph type="title"/>
          </p:nvPr>
        </p:nvSpPr>
        <p:spPr>
          <a:xfrm>
            <a:off x="1295401" y="982132"/>
            <a:ext cx="9805735" cy="1303867"/>
          </a:xfrm>
        </p:spPr>
        <p:txBody>
          <a:bodyPr>
            <a:noAutofit/>
          </a:bodyPr>
          <a:lstStyle/>
          <a:p>
            <a:r>
              <a:rPr lang="en-US" sz="3600" dirty="0"/>
              <a:t>Part 3 - Transfer Learning with ResNet50 (Step 6)</a:t>
            </a:r>
            <a:endParaRPr lang="he-IL" sz="3600" dirty="0"/>
          </a:p>
        </p:txBody>
      </p:sp>
      <p:sp>
        <p:nvSpPr>
          <p:cNvPr id="3" name="מציין מיקום תוכן 2">
            <a:extLst>
              <a:ext uri="{FF2B5EF4-FFF2-40B4-BE49-F238E27FC236}">
                <a16:creationId xmlns:a16="http://schemas.microsoft.com/office/drawing/2014/main" id="{650DC048-84DE-FCBB-5571-07EE1F74912E}"/>
              </a:ext>
            </a:extLst>
          </p:cNvPr>
          <p:cNvSpPr>
            <a:spLocks noGrp="1"/>
          </p:cNvSpPr>
          <p:nvPr>
            <p:ph idx="1"/>
          </p:nvPr>
        </p:nvSpPr>
        <p:spPr/>
        <p:txBody>
          <a:bodyPr>
            <a:normAutofit fontScale="92500" lnSpcReduction="10000"/>
          </a:bodyPr>
          <a:lstStyle/>
          <a:p>
            <a:pPr marL="0" indent="0" algn="l" rtl="0">
              <a:buNone/>
            </a:pPr>
            <a:r>
              <a:rPr lang="en-US" b="1" dirty="0"/>
              <a:t>The Strategy:</a:t>
            </a:r>
            <a:r>
              <a:rPr lang="en-US" dirty="0"/>
              <a:t> Using </a:t>
            </a:r>
            <a:r>
              <a:rPr lang="en-US" b="1" dirty="0"/>
              <a:t>ResNet50</a:t>
            </a:r>
            <a:r>
              <a:rPr lang="en-US" dirty="0"/>
              <a:t> pretrained on ImageNet.</a:t>
            </a:r>
          </a:p>
          <a:p>
            <a:pPr marL="0" indent="0" algn="l" rtl="0">
              <a:buNone/>
            </a:pPr>
            <a:r>
              <a:rPr lang="en-US" b="1" dirty="0"/>
              <a:t>Architecture Adaption:</a:t>
            </a:r>
          </a:p>
          <a:p>
            <a:pPr lvl="1" algn="l" rtl="0"/>
            <a:r>
              <a:rPr lang="en-US" dirty="0"/>
              <a:t>Kept the </a:t>
            </a:r>
            <a:r>
              <a:rPr lang="en-US" dirty="0" err="1"/>
              <a:t>ResNet</a:t>
            </a:r>
            <a:r>
              <a:rPr lang="en-US" dirty="0"/>
              <a:t> "Backbone.“</a:t>
            </a:r>
          </a:p>
          <a:p>
            <a:pPr lvl="1" algn="l" rtl="0"/>
            <a:r>
              <a:rPr lang="en-US" dirty="0"/>
              <a:t>Replaced the fc layer with: Linear(2048, 256) -&gt; </a:t>
            </a:r>
            <a:r>
              <a:rPr lang="en-US" dirty="0" err="1"/>
              <a:t>ReLU</a:t>
            </a:r>
            <a:r>
              <a:rPr lang="en-US" dirty="0"/>
              <a:t> -&gt; Dropout(0.2) -&gt; Linear(256, 4).</a:t>
            </a:r>
          </a:p>
          <a:p>
            <a:pPr marL="0" indent="0" algn="l" rtl="0">
              <a:buNone/>
            </a:pPr>
            <a:r>
              <a:rPr lang="en-US" b="1" dirty="0"/>
              <a:t>Freezing Strategy:</a:t>
            </a:r>
          </a:p>
          <a:p>
            <a:pPr lvl="1" algn="l" rtl="0"/>
            <a:r>
              <a:rPr lang="en-US" b="1" dirty="0"/>
              <a:t>FC Only:</a:t>
            </a:r>
            <a:r>
              <a:rPr lang="en-US" dirty="0"/>
              <a:t> Only the new head was trained (Backbone frozen).</a:t>
            </a:r>
          </a:p>
          <a:p>
            <a:pPr lvl="1" algn="l" rtl="0"/>
            <a:r>
              <a:rPr lang="en-US" b="1" dirty="0"/>
              <a:t>Layer 4 Unfrozen:</a:t>
            </a:r>
            <a:r>
              <a:rPr lang="en-US" dirty="0"/>
              <a:t> Allowed high-level filters to adapt to coffee-specific visuals.</a:t>
            </a:r>
          </a:p>
          <a:p>
            <a:pPr lvl="1" algn="l" rtl="0"/>
            <a:r>
              <a:rPr lang="en-US" b="1" dirty="0"/>
              <a:t>Layers 3-4 Unfrozen:</a:t>
            </a:r>
            <a:r>
              <a:rPr lang="en-US" dirty="0"/>
              <a:t> Deep fine-tuning for maximum flexibility.</a:t>
            </a:r>
            <a:endParaRPr lang="he-IL" dirty="0"/>
          </a:p>
        </p:txBody>
      </p:sp>
    </p:spTree>
    <p:extLst>
      <p:ext uri="{BB962C8B-B14F-4D97-AF65-F5344CB8AC3E}">
        <p14:creationId xmlns:p14="http://schemas.microsoft.com/office/powerpoint/2010/main" val="3965429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37BD83A-759D-1082-8FF4-25C250951629}"/>
              </a:ext>
            </a:extLst>
          </p:cNvPr>
          <p:cNvSpPr>
            <a:spLocks noGrp="1"/>
          </p:cNvSpPr>
          <p:nvPr>
            <p:ph type="title"/>
          </p:nvPr>
        </p:nvSpPr>
        <p:spPr>
          <a:xfrm>
            <a:off x="1295400" y="1011629"/>
            <a:ext cx="9601196" cy="1303867"/>
          </a:xfrm>
        </p:spPr>
        <p:txBody>
          <a:bodyPr>
            <a:normAutofit fontScale="90000"/>
          </a:bodyPr>
          <a:lstStyle/>
          <a:p>
            <a:r>
              <a:rPr lang="en-US" dirty="0"/>
              <a:t>Part 3 - ResNet50 Fine-Tuning Results (Step 7)</a:t>
            </a:r>
            <a:endParaRPr lang="he-IL" dirty="0"/>
          </a:p>
        </p:txBody>
      </p:sp>
      <p:graphicFrame>
        <p:nvGraphicFramePr>
          <p:cNvPr id="10" name="מציין מיקום תוכן 9">
            <a:extLst>
              <a:ext uri="{FF2B5EF4-FFF2-40B4-BE49-F238E27FC236}">
                <a16:creationId xmlns:a16="http://schemas.microsoft.com/office/drawing/2014/main" id="{E3AA3840-B4D8-2F64-2BEB-73A0D22EF775}"/>
              </a:ext>
            </a:extLst>
          </p:cNvPr>
          <p:cNvGraphicFramePr>
            <a:graphicFrameLocks noGrp="1"/>
          </p:cNvGraphicFramePr>
          <p:nvPr>
            <p:ph idx="1"/>
            <p:extLst>
              <p:ext uri="{D42A27DB-BD31-4B8C-83A1-F6EECF244321}">
                <p14:modId xmlns:p14="http://schemas.microsoft.com/office/powerpoint/2010/main" val="2660517600"/>
              </p:ext>
            </p:extLst>
          </p:nvPr>
        </p:nvGraphicFramePr>
        <p:xfrm>
          <a:off x="865235" y="2605549"/>
          <a:ext cx="10031360" cy="3334446"/>
        </p:xfrm>
        <a:graphic>
          <a:graphicData uri="http://schemas.openxmlformats.org/drawingml/2006/table">
            <a:tbl>
              <a:tblPr/>
              <a:tblGrid>
                <a:gridCol w="2006272">
                  <a:extLst>
                    <a:ext uri="{9D8B030D-6E8A-4147-A177-3AD203B41FA5}">
                      <a16:colId xmlns:a16="http://schemas.microsoft.com/office/drawing/2014/main" val="1940619242"/>
                    </a:ext>
                  </a:extLst>
                </a:gridCol>
                <a:gridCol w="2006272">
                  <a:extLst>
                    <a:ext uri="{9D8B030D-6E8A-4147-A177-3AD203B41FA5}">
                      <a16:colId xmlns:a16="http://schemas.microsoft.com/office/drawing/2014/main" val="1384531939"/>
                    </a:ext>
                  </a:extLst>
                </a:gridCol>
                <a:gridCol w="2006272">
                  <a:extLst>
                    <a:ext uri="{9D8B030D-6E8A-4147-A177-3AD203B41FA5}">
                      <a16:colId xmlns:a16="http://schemas.microsoft.com/office/drawing/2014/main" val="2433933292"/>
                    </a:ext>
                  </a:extLst>
                </a:gridCol>
                <a:gridCol w="2006272">
                  <a:extLst>
                    <a:ext uri="{9D8B030D-6E8A-4147-A177-3AD203B41FA5}">
                      <a16:colId xmlns:a16="http://schemas.microsoft.com/office/drawing/2014/main" val="740399597"/>
                    </a:ext>
                  </a:extLst>
                </a:gridCol>
                <a:gridCol w="2006272">
                  <a:extLst>
                    <a:ext uri="{9D8B030D-6E8A-4147-A177-3AD203B41FA5}">
                      <a16:colId xmlns:a16="http://schemas.microsoft.com/office/drawing/2014/main" val="2860196271"/>
                    </a:ext>
                  </a:extLst>
                </a:gridCol>
              </a:tblGrid>
              <a:tr h="692055">
                <a:tc>
                  <a:txBody>
                    <a:bodyPr/>
                    <a:lstStyle/>
                    <a:p>
                      <a:pPr rtl="0">
                        <a:buNone/>
                      </a:pPr>
                      <a:r>
                        <a:rPr lang="en-US" b="1">
                          <a:solidFill>
                            <a:srgbClr val="1F1F1F"/>
                          </a:solidFill>
                          <a:effectLst/>
                          <a:latin typeface="Google Sans Text"/>
                        </a:rPr>
                        <a:t>Strategy</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Training Mode</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Final Test Accuracy</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Best Val Acc</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Observations</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91315634"/>
                  </a:ext>
                </a:extLst>
              </a:tr>
              <a:tr h="692055">
                <a:tc>
                  <a:txBody>
                    <a:bodyPr/>
                    <a:lstStyle/>
                    <a:p>
                      <a:pPr rtl="0">
                        <a:buNone/>
                      </a:pPr>
                      <a:r>
                        <a:rPr lang="en-US" b="1">
                          <a:solidFill>
                            <a:srgbClr val="1F1F1F"/>
                          </a:solidFill>
                          <a:effectLst/>
                          <a:latin typeface="Google Sans Text"/>
                        </a:rPr>
                        <a:t>Strategy 1</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FC Only (Frozen)</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82.47%</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83.51%</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Stable but limited capacity.</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46434279"/>
                  </a:ext>
                </a:extLst>
              </a:tr>
              <a:tr h="975168">
                <a:tc>
                  <a:txBody>
                    <a:bodyPr/>
                    <a:lstStyle/>
                    <a:p>
                      <a:pPr rtl="0">
                        <a:buNone/>
                      </a:pPr>
                      <a:r>
                        <a:rPr lang="en-US" b="1">
                          <a:solidFill>
                            <a:srgbClr val="1F1F1F"/>
                          </a:solidFill>
                          <a:effectLst/>
                          <a:latin typeface="Google Sans Text"/>
                        </a:rPr>
                        <a:t>Strategy 2</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Fine-tune: Layer 4</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90.72%</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88.66%</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Best Performance.</a:t>
                      </a:r>
                      <a:r>
                        <a:rPr lang="en-US">
                          <a:solidFill>
                            <a:srgbClr val="1F1F1F"/>
                          </a:solidFill>
                          <a:effectLst/>
                          <a:latin typeface="Google Sans Text"/>
                        </a:rPr>
                        <a:t> High volatility.</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87362537"/>
                  </a:ext>
                </a:extLst>
              </a:tr>
              <a:tr h="975168">
                <a:tc>
                  <a:txBody>
                    <a:bodyPr/>
                    <a:lstStyle/>
                    <a:p>
                      <a:pPr rtl="0">
                        <a:buNone/>
                      </a:pPr>
                      <a:r>
                        <a:rPr lang="en-US" b="1">
                          <a:solidFill>
                            <a:srgbClr val="1F1F1F"/>
                          </a:solidFill>
                          <a:effectLst/>
                          <a:latin typeface="Google Sans Text"/>
                        </a:rPr>
                        <a:t>Strategy 3</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Fine-tune: Layers 3-4</a:t>
                      </a:r>
                      <a:endParaRPr lang="en-US">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b="1">
                          <a:solidFill>
                            <a:srgbClr val="1F1F1F"/>
                          </a:solidFill>
                          <a:effectLst/>
                          <a:latin typeface="Google Sans Text"/>
                        </a:rPr>
                        <a:t>85.57%</a:t>
                      </a:r>
                      <a:endParaRPr lang="he-IL">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he-IL">
                          <a:solidFill>
                            <a:srgbClr val="1F1F1F"/>
                          </a:solidFill>
                          <a:effectLst/>
                          <a:latin typeface="Google Sans Text"/>
                        </a:rPr>
                        <a:t>83.51%</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Diminishing returns; potential noise.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32152636"/>
                  </a:ext>
                </a:extLst>
              </a:tr>
            </a:tbl>
          </a:graphicData>
        </a:graphic>
      </p:graphicFrame>
    </p:spTree>
    <p:extLst>
      <p:ext uri="{BB962C8B-B14F-4D97-AF65-F5344CB8AC3E}">
        <p14:creationId xmlns:p14="http://schemas.microsoft.com/office/powerpoint/2010/main" val="4236690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B03951-F7F1-1DA2-4852-829ECFBCF1E7}"/>
              </a:ext>
            </a:extLst>
          </p:cNvPr>
          <p:cNvSpPr>
            <a:spLocks noGrp="1"/>
          </p:cNvSpPr>
          <p:nvPr>
            <p:ph type="title"/>
          </p:nvPr>
        </p:nvSpPr>
        <p:spPr/>
        <p:txBody>
          <a:bodyPr>
            <a:normAutofit fontScale="90000"/>
          </a:bodyPr>
          <a:lstStyle/>
          <a:p>
            <a:r>
              <a:rPr lang="en-US" dirty="0"/>
              <a:t>Part 3 - ResNet50 Fine-Tuning Results (Step 7)</a:t>
            </a:r>
            <a:endParaRPr lang="he-IL" dirty="0"/>
          </a:p>
        </p:txBody>
      </p:sp>
      <p:sp>
        <p:nvSpPr>
          <p:cNvPr id="3" name="מציין מיקום תוכן 2">
            <a:extLst>
              <a:ext uri="{FF2B5EF4-FFF2-40B4-BE49-F238E27FC236}">
                <a16:creationId xmlns:a16="http://schemas.microsoft.com/office/drawing/2014/main" id="{8FED3986-5348-F0AA-4EE0-0DAD88F02C30}"/>
              </a:ext>
            </a:extLst>
          </p:cNvPr>
          <p:cNvSpPr>
            <a:spLocks noGrp="1"/>
          </p:cNvSpPr>
          <p:nvPr>
            <p:ph idx="1"/>
          </p:nvPr>
        </p:nvSpPr>
        <p:spPr>
          <a:xfrm>
            <a:off x="1118939" y="2414336"/>
            <a:ext cx="10270956" cy="4002506"/>
          </a:xfrm>
        </p:spPr>
        <p:txBody>
          <a:bodyPr>
            <a:normAutofit/>
          </a:bodyPr>
          <a:lstStyle/>
          <a:p>
            <a:pPr algn="l" rtl="0"/>
            <a:r>
              <a:rPr lang="en-US" b="1" dirty="0"/>
              <a:t>Optimal Fine-Tuning:</a:t>
            </a:r>
            <a:r>
              <a:rPr lang="en-US" dirty="0"/>
              <a:t> Fine-tuning only the final convolutional block (</a:t>
            </a:r>
            <a:r>
              <a:rPr lang="en-US" b="1" dirty="0"/>
              <a:t>Layer 4</a:t>
            </a:r>
            <a:r>
              <a:rPr lang="en-US" dirty="0"/>
              <a:t>) yielded the highest accuracy (</a:t>
            </a:r>
            <a:r>
              <a:rPr lang="en-US" b="1" dirty="0"/>
              <a:t>90.72%</a:t>
            </a:r>
            <a:r>
              <a:rPr lang="en-US" dirty="0"/>
              <a:t>). This suggests that the lower layers of the </a:t>
            </a:r>
            <a:r>
              <a:rPr lang="en-US" dirty="0" err="1"/>
              <a:t>ResNet</a:t>
            </a:r>
            <a:r>
              <a:rPr lang="en-US" dirty="0"/>
              <a:t> model already hold sufficiently general features, and only the high-level semantic features needed adaptation to our specific dataset</a:t>
            </a:r>
          </a:p>
          <a:p>
            <a:pPr algn="l" rtl="0"/>
            <a:r>
              <a:rPr lang="en-US" b="1" dirty="0"/>
              <a:t>Performance:</a:t>
            </a:r>
            <a:r>
              <a:rPr lang="en-US" dirty="0"/>
              <a:t> ResNet50 outperformed custom models due to its depth and pre trained spatial knowledge.</a:t>
            </a:r>
          </a:p>
          <a:p>
            <a:pPr algn="l" rtl="0"/>
            <a:r>
              <a:rPr lang="en-US" b="1" dirty="0"/>
              <a:t>Finding: </a:t>
            </a:r>
            <a:r>
              <a:rPr lang="en-US" dirty="0"/>
              <a:t>A lower Learning Rate (0.0005) was crucial during fine tunning to avoid destroying the pre trained weights</a:t>
            </a:r>
          </a:p>
          <a:p>
            <a:pPr algn="l" rtl="0"/>
            <a:endParaRPr lang="en-US" dirty="0"/>
          </a:p>
          <a:p>
            <a:pPr algn="l" rtl="0"/>
            <a:endParaRPr lang="en-US" dirty="0"/>
          </a:p>
          <a:p>
            <a:pPr algn="l" rtl="0"/>
            <a:endParaRPr lang="he-IL" dirty="0"/>
          </a:p>
        </p:txBody>
      </p:sp>
    </p:spTree>
    <p:extLst>
      <p:ext uri="{BB962C8B-B14F-4D97-AF65-F5344CB8AC3E}">
        <p14:creationId xmlns:p14="http://schemas.microsoft.com/office/powerpoint/2010/main" val="49580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0C97EB-EA66-F78D-124B-65272BD4BB39}"/>
              </a:ext>
            </a:extLst>
          </p:cNvPr>
          <p:cNvSpPr>
            <a:spLocks noGrp="1"/>
          </p:cNvSpPr>
          <p:nvPr>
            <p:ph type="title"/>
          </p:nvPr>
        </p:nvSpPr>
        <p:spPr/>
        <p:txBody>
          <a:bodyPr>
            <a:normAutofit/>
          </a:bodyPr>
          <a:lstStyle/>
          <a:p>
            <a:r>
              <a:rPr lang="en-US" b="1" dirty="0"/>
              <a:t>The Freeze vs. Unfreeze Trade-off:</a:t>
            </a:r>
            <a:endParaRPr lang="he-IL" dirty="0"/>
          </a:p>
        </p:txBody>
      </p:sp>
      <p:sp>
        <p:nvSpPr>
          <p:cNvPr id="3" name="מציין מיקום תוכן 2">
            <a:extLst>
              <a:ext uri="{FF2B5EF4-FFF2-40B4-BE49-F238E27FC236}">
                <a16:creationId xmlns:a16="http://schemas.microsoft.com/office/drawing/2014/main" id="{595EF879-51AA-AEB5-0A47-8916ED1F4C58}"/>
              </a:ext>
            </a:extLst>
          </p:cNvPr>
          <p:cNvSpPr>
            <a:spLocks noGrp="1"/>
          </p:cNvSpPr>
          <p:nvPr>
            <p:ph idx="1"/>
          </p:nvPr>
        </p:nvSpPr>
        <p:spPr/>
        <p:txBody>
          <a:bodyPr>
            <a:normAutofit fontScale="92500"/>
          </a:bodyPr>
          <a:lstStyle/>
          <a:p>
            <a:pPr algn="l" rtl="0"/>
            <a:r>
              <a:rPr lang="en-US" b="1" dirty="0"/>
              <a:t>Frozen Backbone:</a:t>
            </a:r>
            <a:r>
              <a:rPr lang="en-US" dirty="0"/>
              <a:t> Training only the Fully Connected (FC) layer provided a solid baseline (82.47%) but lacked the flexibility to reach peak performance.</a:t>
            </a:r>
            <a:endParaRPr lang="en-US" b="1" dirty="0"/>
          </a:p>
          <a:p>
            <a:pPr algn="l" rtl="0"/>
            <a:r>
              <a:rPr lang="en-US" b="1" dirty="0"/>
              <a:t>Layer 3-4 Fine-tuning:</a:t>
            </a:r>
            <a:r>
              <a:rPr lang="en-US" dirty="0"/>
              <a:t> Unfreezing more layers (Layers 3 &amp; 4) actually led to a decrease in performance compared to Layer 4 only. updating too many weights on a small dataset causes the model to lose the useful pre-learned features.</a:t>
            </a:r>
          </a:p>
          <a:p>
            <a:pPr algn="l" rtl="0"/>
            <a:r>
              <a:rPr lang="en-US" b="1" dirty="0"/>
              <a:t>overfitting : </a:t>
            </a:r>
            <a:r>
              <a:rPr lang="en-US" dirty="0"/>
              <a:t>In Strategy 2 (Layer 4), the training loss dropped nearly to zero (</a:t>
            </a:r>
            <a:r>
              <a:rPr lang="en-US" b="1" dirty="0"/>
              <a:t>0.0096</a:t>
            </a:r>
            <a:r>
              <a:rPr lang="en-US" dirty="0"/>
              <a:t>), while validation loss remained significantly higher. This indicates that while the model is extremely powerful, it is prone to memorizing the training set.</a:t>
            </a:r>
          </a:p>
          <a:p>
            <a:pPr algn="l" rtl="0"/>
            <a:endParaRPr lang="en-US" dirty="0"/>
          </a:p>
          <a:p>
            <a:pPr algn="l" rtl="0"/>
            <a:endParaRPr lang="en-US" dirty="0"/>
          </a:p>
          <a:p>
            <a:pPr algn="l" rtl="0"/>
            <a:endParaRPr lang="he-IL" dirty="0"/>
          </a:p>
        </p:txBody>
      </p:sp>
    </p:spTree>
    <p:extLst>
      <p:ext uri="{BB962C8B-B14F-4D97-AF65-F5344CB8AC3E}">
        <p14:creationId xmlns:p14="http://schemas.microsoft.com/office/powerpoint/2010/main" val="2348708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A7C2AF-4206-5ECD-ECD9-DD82AB51E577}"/>
              </a:ext>
            </a:extLst>
          </p:cNvPr>
          <p:cNvSpPr>
            <a:spLocks noGrp="1"/>
          </p:cNvSpPr>
          <p:nvPr>
            <p:ph type="title"/>
          </p:nvPr>
        </p:nvSpPr>
        <p:spPr/>
        <p:txBody>
          <a:bodyPr/>
          <a:lstStyle/>
          <a:p>
            <a:r>
              <a:rPr lang="en-US" dirty="0"/>
              <a:t>Final Reflection</a:t>
            </a:r>
            <a:endParaRPr lang="he-IL" dirty="0"/>
          </a:p>
        </p:txBody>
      </p:sp>
      <p:sp>
        <p:nvSpPr>
          <p:cNvPr id="3" name="מציין מיקום תוכן 2">
            <a:extLst>
              <a:ext uri="{FF2B5EF4-FFF2-40B4-BE49-F238E27FC236}">
                <a16:creationId xmlns:a16="http://schemas.microsoft.com/office/drawing/2014/main" id="{D74BE6BA-B08C-5B14-A36D-7415A87E8D30}"/>
              </a:ext>
            </a:extLst>
          </p:cNvPr>
          <p:cNvSpPr>
            <a:spLocks noGrp="1"/>
          </p:cNvSpPr>
          <p:nvPr>
            <p:ph idx="1"/>
          </p:nvPr>
        </p:nvSpPr>
        <p:spPr>
          <a:xfrm>
            <a:off x="845574" y="2399071"/>
            <a:ext cx="10412361" cy="3775587"/>
          </a:xfrm>
        </p:spPr>
        <p:txBody>
          <a:bodyPr>
            <a:normAutofit fontScale="85000" lnSpcReduction="20000"/>
          </a:bodyPr>
          <a:lstStyle/>
          <a:p>
            <a:pPr algn="l" rtl="0"/>
            <a:r>
              <a:rPr lang="en-US" b="1" dirty="0"/>
              <a:t>What mattered most? </a:t>
            </a:r>
            <a:r>
              <a:rPr lang="en-US" dirty="0"/>
              <a:t>Transfer Learning and Data Augmentation had the biggest impact. In small datasets, these two prevent the model from overfitting and provide a head start in feature detection.</a:t>
            </a:r>
          </a:p>
          <a:p>
            <a:pPr algn="l" rtl="0"/>
            <a:r>
              <a:rPr lang="en-US" b="1" dirty="0"/>
              <a:t>What worked best? </a:t>
            </a:r>
            <a:r>
              <a:rPr lang="en-US" dirty="0"/>
              <a:t>The Deep_CNN with Adam optimizer provided the best custom results. It showed that even a moderately deep custom network can reach high accuracy (with the limited data) if regularized correctly with Augmentation.</a:t>
            </a:r>
          </a:p>
          <a:p>
            <a:pPr algn="l" rtl="0"/>
            <a:r>
              <a:rPr lang="en-US" b="1" dirty="0"/>
              <a:t>Generalization: </a:t>
            </a:r>
            <a:r>
              <a:rPr lang="en-US" dirty="0"/>
              <a:t>The close proximity of my training and validation loss informations indicates excellent generalization. The model didn't just "memorize", it actually learned the distinguishing features of the classes.</a:t>
            </a:r>
          </a:p>
          <a:p>
            <a:pPr algn="l" rtl="0"/>
            <a:r>
              <a:rPr lang="en-US" b="1" dirty="0"/>
              <a:t>Future Improvements: </a:t>
            </a:r>
            <a:br>
              <a:rPr lang="en-US" dirty="0"/>
            </a:br>
            <a:r>
              <a:rPr lang="en-US" dirty="0"/>
              <a:t>Given more time, collecting a larger and more diverse dataset would likely further improve performance. Increasing the size of the validation and test sets would also allow for a more reliable evaluation of the model’s generalization.</a:t>
            </a:r>
          </a:p>
          <a:p>
            <a:pPr algn="l" rtl="0"/>
            <a:endParaRPr lang="en-US" dirty="0"/>
          </a:p>
        </p:txBody>
      </p:sp>
    </p:spTree>
    <p:extLst>
      <p:ext uri="{BB962C8B-B14F-4D97-AF65-F5344CB8AC3E}">
        <p14:creationId xmlns:p14="http://schemas.microsoft.com/office/powerpoint/2010/main" val="361004113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אורגני">
  <a:themeElements>
    <a:clrScheme name="אורגני">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אורגני">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אורגני">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7690</TotalTime>
  <Words>1907</Words>
  <Application>Microsoft Office PowerPoint</Application>
  <PresentationFormat>מסך רחב</PresentationFormat>
  <Paragraphs>153</Paragraphs>
  <Slides>20</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20</vt:i4>
      </vt:variant>
    </vt:vector>
  </HeadingPairs>
  <TitlesOfParts>
    <vt:vector size="24" baseType="lpstr">
      <vt:lpstr>Arial</vt:lpstr>
      <vt:lpstr>Garamond</vt:lpstr>
      <vt:lpstr>Google Sans Text</vt:lpstr>
      <vt:lpstr>אורגני</vt:lpstr>
      <vt:lpstr>Image Classification of Coffee Types using Deep Learning</vt:lpstr>
      <vt:lpstr>Problem &amp; Dataset</vt:lpstr>
      <vt:lpstr>Coffee Classification:  Differentiating between visually similar coffee beverages</vt:lpstr>
      <vt:lpstr>Challenge : The Lack of Official Datasets</vt:lpstr>
      <vt:lpstr>Increasing the Difficulty:  The "Latte" Pivot</vt:lpstr>
      <vt:lpstr>Part 1: Step 1: Architecture &amp; Optimization</vt:lpstr>
      <vt:lpstr>Part 1: Step 1: Architecture &amp; Optimization</vt:lpstr>
      <vt:lpstr>Part 1 - Step 2: Batch Normalization (BN)</vt:lpstr>
      <vt:lpstr>מצגת של PowerPoint‏</vt:lpstr>
      <vt:lpstr>Part 1 - Step 3: Regularization &amp; Overfitting</vt:lpstr>
      <vt:lpstr>The results</vt:lpstr>
      <vt:lpstr>Key Insights &amp; Technical Analysis</vt:lpstr>
      <vt:lpstr>Part 2 - Pretraining on CIFAR-10 (Steps 4-5)</vt:lpstr>
      <vt:lpstr>The results:</vt:lpstr>
      <vt:lpstr> Performance Boost: Utilizing pretrained weights significantly improved the final model performance, achieving a test accuracy of 85.57% compared to 80.41% when training from scratch.   Efficiency: The model with pretrained weights reached lower training loss values faster, demonstrating a superior ability to extract relevant features from the dataset.  Overfitting Observation: In both scenarios, the Training Loss continued to decrease after Epoch 20 while the Validation Loss began to fluctuate or rise. This indicates a clear point of overfitting, where the model started memorizing the training data.  </vt:lpstr>
      <vt:lpstr>Part 3 - Transfer Learning with ResNet50 (Step 6)</vt:lpstr>
      <vt:lpstr>Part 3 - ResNet50 Fine-Tuning Results (Step 7)</vt:lpstr>
      <vt:lpstr>Part 3 - ResNet50 Fine-Tuning Results (Step 7)</vt:lpstr>
      <vt:lpstr>The Freeze vs. Unfreeze Trade-off:</vt:lpstr>
      <vt:lpstr>Final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נוי אלישע</dc:creator>
  <cp:lastModifiedBy>נוי אלישע</cp:lastModifiedBy>
  <cp:revision>8</cp:revision>
  <dcterms:created xsi:type="dcterms:W3CDTF">2026-01-11T21:19:00Z</dcterms:created>
  <dcterms:modified xsi:type="dcterms:W3CDTF">2026-01-17T14:56:19Z</dcterms:modified>
</cp:coreProperties>
</file>